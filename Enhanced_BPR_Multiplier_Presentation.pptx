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0000"/>
                </a:solidFill>
                <a:latin typeface="Arial"/>
              </a:defRPr>
            </a:pPr>
            <a:r>
              <a:rPr sz="1400" b="0" i="0" u="none" strike="noStrike">
                <a:solidFill>
                  <a:srgbClr val="000000"/>
                </a:solidFill>
                <a:latin typeface="Arial"/>
              </a:rPr>
              <a:t>Normalized Performance Metrics (Base = 100%)</a:t>
            </a:r>
          </a:p>
        </c:rich>
      </c:tx>
      <c:layout/>
      <c:overlay val="0"/>
    </c:title>
    <c:autoTitleDeleted val="0"/>
    <c:plotArea>
      <c:layout/>
      <c:barChart>
        <c:barDir val="col"/>
        <c:grouping val="clustered"/>
        <c:varyColors val="0"/>
        <c:ser>
          <c:idx val="0"/>
          <c:order val="0"/>
          <c:tx>
            <c:strRef>
              <c:f>Sheet1!$B$1</c:f>
              <c:strCache>
                <c:ptCount val="1"/>
                <c:pt idx="0">
                  <c:v>Booth Multiplier</c:v>
                </c:pt>
              </c:strCache>
            </c:strRef>
          </c:tx>
          <c:spPr>
            <a:solidFill>
              <a:srgbClr val="666666"/>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Delay (ns)</c:v>
                  </c:pt>
                  <c:pt idx="1">
                    <c:v>Power (mW)</c:v>
                  </c:pt>
                  <c:pt idx="2">
                    <c:v>Area (μm²)</c:v>
                  </c:pt>
                  <c:pt idx="3">
                    <c:v>PDP (pJ)</c:v>
                  </c:pt>
                </c:lvl>
              </c:multiLvlStrCache>
            </c:multiLvlStrRef>
          </c:cat>
          <c:val>
            <c:numRef>
              <c:f>Sheet1!$B$2:$B$5</c:f>
              <c:numCache>
                <c:formatCode>General</c:formatCode>
                <c:ptCount val="4"/>
                <c:pt idx="0">
                  <c:v>100</c:v>
                </c:pt>
                <c:pt idx="1">
                  <c:v>100</c:v>
                </c:pt>
                <c:pt idx="2">
                  <c:v>100</c:v>
                </c:pt>
                <c:pt idx="3">
                  <c:v>100</c:v>
                </c:pt>
              </c:numCache>
            </c:numRef>
          </c:val>
        </c:ser>
        <c:ser>
          <c:idx val="1"/>
          <c:order val="1"/>
          <c:tx>
            <c:strRef>
              <c:f>Sheet1!$C$1</c:f>
              <c:strCache>
                <c:ptCount val="1"/>
                <c:pt idx="0">
                  <c:v>Base BPR</c:v>
                </c:pt>
              </c:strCache>
            </c:strRef>
          </c:tx>
          <c:spPr>
            <a:solidFill>
              <a:srgbClr val="1F4788"/>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Delay (ns)</c:v>
                  </c:pt>
                  <c:pt idx="1">
                    <c:v>Power (mW)</c:v>
                  </c:pt>
                  <c:pt idx="2">
                    <c:v>Area (μm²)</c:v>
                  </c:pt>
                  <c:pt idx="3">
                    <c:v>PDP (pJ)</c:v>
                  </c:pt>
                </c:lvl>
              </c:multiLvlStrCache>
            </c:multiLvlStrRef>
          </c:cat>
          <c:val>
            <c:numRef>
              <c:f>Sheet1!$C$2:$C$5</c:f>
              <c:numCache>
                <c:formatCode>General</c:formatCode>
                <c:ptCount val="4"/>
                <c:pt idx="0">
                  <c:v>85</c:v>
                </c:pt>
                <c:pt idx="1">
                  <c:v>90</c:v>
                </c:pt>
                <c:pt idx="2">
                  <c:v>95</c:v>
                </c:pt>
                <c:pt idx="3">
                  <c:v>88</c:v>
                </c:pt>
              </c:numCache>
            </c:numRef>
          </c:val>
        </c:ser>
        <c:ser>
          <c:idx val="2"/>
          <c:order val="2"/>
          <c:tx>
            <c:strRef>
              <c:f>Sheet1!$D$1</c:f>
              <c:strCache>
                <c:ptCount val="1"/>
                <c:pt idx="0">
                  <c:v>Enhanced BPR (Proposed)</c:v>
                </c:pt>
              </c:strCache>
            </c:strRef>
          </c:tx>
          <c:spPr>
            <a:solidFill>
              <a:srgbClr val="C1272D"/>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Delay (ns)</c:v>
                  </c:pt>
                  <c:pt idx="1">
                    <c:v>Power (mW)</c:v>
                  </c:pt>
                  <c:pt idx="2">
                    <c:v>Area (μm²)</c:v>
                  </c:pt>
                  <c:pt idx="3">
                    <c:v>PDP (pJ)</c:v>
                  </c:pt>
                </c:lvl>
              </c:multiLvlStrCache>
            </c:multiLvlStrRef>
          </c:cat>
          <c:val>
            <c:numRef>
              <c:f>Sheet1!$D$2:$D$5</c:f>
              <c:numCache>
                <c:formatCode>General</c:formatCode>
                <c:ptCount val="4"/>
                <c:pt idx="0">
                  <c:v>70</c:v>
                </c:pt>
                <c:pt idx="1">
                  <c:v>75</c:v>
                </c:pt>
                <c:pt idx="2">
                  <c:v>85</c:v>
                </c:pt>
                <c:pt idx="3">
                  <c:v>65</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914400"/>
            <a:ext cx="8229600" cy="1645920"/>
          </a:xfrm>
          <a:prstGeom prst="rect">
            <a:avLst/>
          </a:prstGeom>
          <a:noFill/>
          <a:ln/>
        </p:spPr>
        <p:txBody>
          <a:bodyPr wrap="square" rtlCol="0" anchor="ctr"/>
          <a:lstStyle/>
          <a:p>
            <a:pPr algn="ctr" indent="0" marL="0">
              <a:buNone/>
            </a:pPr>
            <a:r>
              <a:rPr lang="en-US" sz="2800" b="1" dirty="0">
                <a:solidFill>
                  <a:srgbClr val="1E3A5F"/>
                </a:solidFill>
              </a:rPr>
              <a:t>An Enhanced Pipelined Radix-8 Bit Pair Recoding Floating-Point Multiplier Using Compressor-Based Reduction for Energy-Efficient Neural Network Accelerators</a:t>
            </a:r>
            <a:endParaRPr lang="en-US" sz="2800" dirty="0"/>
          </a:p>
        </p:txBody>
      </p:sp>
      <p:sp>
        <p:nvSpPr>
          <p:cNvPr id="6" name="Text 4"/>
          <p:cNvSpPr/>
          <p:nvPr/>
        </p:nvSpPr>
        <p:spPr>
          <a:xfrm>
            <a:off x="5029200" y="2926080"/>
            <a:ext cx="3657600" cy="1097280"/>
          </a:xfrm>
          <a:prstGeom prst="rect">
            <a:avLst/>
          </a:prstGeom>
          <a:noFill/>
          <a:ln/>
        </p:spPr>
        <p:txBody>
          <a:bodyPr wrap="square" rtlCol="0" anchor="ctr"/>
          <a:lstStyle/>
          <a:p>
            <a:pPr algn="l" indent="0" marL="0">
              <a:buNone/>
            </a:pPr>
            <a:r>
              <a:rPr lang="en-US" sz="1200" dirty="0">
                <a:solidFill>
                  <a:srgbClr val="333333"/>
                </a:solidFill>
              </a:rPr>
              <a:t>Under the guidance of:</a:t>
            </a:r>
            <a:endParaRPr lang="en-US" sz="1200" dirty="0"/>
          </a:p>
          <a:p>
            <a:pPr algn="l" indent="0" marL="0">
              <a:buNone/>
            </a:pPr>
            <a:r>
              <a:rPr lang="en-US" sz="1400" b="1" dirty="0">
                <a:solidFill>
                  <a:srgbClr val="333333"/>
                </a:solidFill>
              </a:rPr>
              <a:t>Dr. D. Narendhar Singh</a:t>
            </a:r>
            <a:endParaRPr lang="en-US" sz="1200" dirty="0"/>
          </a:p>
          <a:p>
            <a:pPr algn="l" indent="0" marL="0">
              <a:buNone/>
            </a:pPr>
            <a:r>
              <a:rPr lang="en-US" sz="1100" dirty="0">
                <a:solidFill>
                  <a:srgbClr val="333333"/>
                </a:solidFill>
              </a:rPr>
              <a:t>Associate Professor</a:t>
            </a:r>
            <a:endParaRPr lang="en-US" sz="1200" dirty="0"/>
          </a:p>
          <a:p>
            <a:pPr algn="l" indent="0" marL="0">
              <a:buNone/>
            </a:pPr>
            <a:r>
              <a:rPr lang="en-US" sz="1100" dirty="0">
                <a:solidFill>
                  <a:srgbClr val="333333"/>
                </a:solidFill>
              </a:rPr>
              <a:t>Department of ECE</a:t>
            </a:r>
            <a:endParaRPr lang="en-US" sz="1200" dirty="0"/>
          </a:p>
        </p:txBody>
      </p:sp>
      <p:sp>
        <p:nvSpPr>
          <p:cNvPr id="7" name="Text 5"/>
          <p:cNvSpPr/>
          <p:nvPr/>
        </p:nvSpPr>
        <p:spPr>
          <a:xfrm>
            <a:off x="457200" y="2926080"/>
            <a:ext cx="3657600" cy="1097280"/>
          </a:xfrm>
          <a:prstGeom prst="rect">
            <a:avLst/>
          </a:prstGeom>
          <a:noFill/>
          <a:ln/>
        </p:spPr>
        <p:txBody>
          <a:bodyPr wrap="square" rtlCol="0" anchor="ctr"/>
          <a:lstStyle/>
          <a:p>
            <a:pPr algn="l" indent="0" marL="0">
              <a:buNone/>
            </a:pPr>
            <a:r>
              <a:rPr lang="en-US" sz="1200" dirty="0">
                <a:solidFill>
                  <a:srgbClr val="333333"/>
                </a:solidFill>
              </a:rPr>
              <a:t>Presented by:</a:t>
            </a:r>
            <a:endParaRPr lang="en-US" sz="1200" dirty="0"/>
          </a:p>
          <a:p>
            <a:pPr algn="l" indent="0" marL="0">
              <a:buNone/>
            </a:pPr>
            <a:r>
              <a:rPr lang="en-US" sz="1400" b="1" dirty="0">
                <a:solidFill>
                  <a:srgbClr val="333333"/>
                </a:solidFill>
              </a:rPr>
              <a:t>G. RISHWANTH</a:t>
            </a:r>
            <a:endParaRPr lang="en-US" sz="1200" dirty="0"/>
          </a:p>
          <a:p>
            <a:pPr algn="l" indent="0" marL="0">
              <a:buNone/>
            </a:pPr>
            <a:r>
              <a:rPr lang="en-US" sz="1200" dirty="0">
                <a:solidFill>
                  <a:srgbClr val="333333"/>
                </a:solidFill>
              </a:rPr>
              <a:t>24EG202A12</a:t>
            </a:r>
            <a:endParaRPr lang="en-US" sz="1200" dirty="0"/>
          </a:p>
          <a:p>
            <a:pPr algn="l" indent="0" marL="0">
              <a:buNone/>
            </a:pPr>
            <a:r>
              <a:rPr lang="en-US" sz="1100" dirty="0">
                <a:solidFill>
                  <a:srgbClr val="333333"/>
                </a:solidFill>
              </a:rPr>
              <a:t>M.Tech (VLSI-SD)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3200" b="1" dirty="0">
                <a:solidFill>
                  <a:srgbClr val="1E3A5F"/>
                </a:solidFill>
              </a:rPr>
              <a:t>Abstract</a:t>
            </a:r>
            <a:endParaRPr lang="en-US" sz="3200" dirty="0"/>
          </a:p>
        </p:txBody>
      </p:sp>
      <p:sp>
        <p:nvSpPr>
          <p:cNvPr id="6" name="Text 4"/>
          <p:cNvSpPr/>
          <p:nvPr/>
        </p:nvSpPr>
        <p:spPr>
          <a:xfrm>
            <a:off x="457200" y="1005840"/>
            <a:ext cx="8229600" cy="3657600"/>
          </a:xfrm>
          <a:prstGeom prst="rect">
            <a:avLst/>
          </a:prstGeom>
          <a:noFill/>
          <a:ln/>
        </p:spPr>
        <p:txBody>
          <a:bodyPr wrap="square" rtlCol="0" anchor="t"/>
          <a:lstStyle/>
          <a:p>
            <a:pPr algn="l" indent="0" marL="0">
              <a:buNone/>
            </a:pPr>
            <a:r>
              <a:rPr lang="en-US" sz="1400" dirty="0">
                <a:solidFill>
                  <a:srgbClr val="333333"/>
                </a:solidFill>
              </a:rPr>
              <a:t>This project proposes an enhanced floating-point multiplier architecture based on the Radix-8 Bit Pair Recoding (BPR) algorithm, specifically designed for high-performance AI and neural network accelerator applications. The proposed design enhances the conventional BPR multiplier by introducing a multi-stage pipelined architecture and compressor-based partial product reduction techniques to achieve significant improvements in power consumption, delay reduction, throughput optimization, and hardware area efficiency. The enhanced architecture integrates seamlessly into FP16 Multiply-Accumulate (MAC) units for CNN convolution operations, making it ideal for energy-efficient AI accelerators. Implemented using Verilog HDL and verified through FPGA synthesis and ASIC implementation using TSMC 65nm technology, the design demonstrates 15-25% lower delay, 20-30% reduced power consumption, and improved overall energy efficiency compared to conventional Booth and base BPR multipliers. The enhanced multiplier is particularly suited for edge AI processors, DSP systems, and embedded neural network accelerators where power efficiency and high-speed computation are critical.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3200" b="1" dirty="0">
                <a:solidFill>
                  <a:srgbClr val="1E3A5F"/>
                </a:solidFill>
              </a:rPr>
              <a:t>Problem Statement</a:t>
            </a:r>
            <a:endParaRPr lang="en-US" sz="3200" dirty="0"/>
          </a:p>
        </p:txBody>
      </p:sp>
      <p:sp>
        <p:nvSpPr>
          <p:cNvPr id="6" name="Text 4"/>
          <p:cNvSpPr/>
          <p:nvPr/>
        </p:nvSpPr>
        <p:spPr>
          <a:xfrm>
            <a:off x="457200" y="1005840"/>
            <a:ext cx="8229600" cy="3657600"/>
          </a:xfrm>
          <a:prstGeom prst="rect">
            <a:avLst/>
          </a:prstGeom>
          <a:noFill/>
          <a:ln/>
        </p:spPr>
        <p:txBody>
          <a:bodyPr wrap="square" rtlCol="0" anchor="t"/>
          <a:lstStyle/>
          <a:p>
            <a:pPr algn="l" indent="0" marL="0">
              <a:buNone/>
            </a:pPr>
            <a:r>
              <a:rPr lang="en-US" sz="1400" dirty="0">
                <a:solidFill>
                  <a:srgbClr val="333333"/>
                </a:solidFill>
              </a:rPr>
              <a:t>Modern AI and neural network accelerators demand floating-point multipliers that can deliver high-speed computation while maintaining exceptional energy efficiency. Although existing Booth multipliers and conventional Radix-8 Bit Pair Recoding (BPR) multipliers offer improved partial product reduction, they suffer from several critical limitations that hinder their performance in AI accelerator applications:</a:t>
            </a:r>
            <a:endParaRPr lang="en-US" sz="1400" dirty="0"/>
          </a:p>
          <a:p>
            <a:pPr algn="l" indent="0" marL="0">
              <a:buNone/>
            </a:pPr>
            <a:endParaRPr lang="en-US" sz="1400" dirty="0"/>
          </a:p>
          <a:p>
            <a:pPr algn="l" indent="0" marL="0">
              <a:buNone/>
            </a:pPr>
            <a:r>
              <a:rPr lang="en-US" sz="1400" dirty="0">
                <a:solidFill>
                  <a:srgbClr val="333333"/>
                </a:solidFill>
              </a:rPr>
              <a:t>• Conventional BPR multipliers lack pipelined architecture, limiting throughput and operating frequency in high-speed AI applications</a:t>
            </a:r>
            <a:endParaRPr lang="en-US" sz="1400" dirty="0"/>
          </a:p>
          <a:p>
            <a:pPr algn="l" indent="0" marL="0">
              <a:buNone/>
            </a:pPr>
            <a:r>
              <a:rPr lang="en-US" sz="1400" dirty="0">
                <a:solidFill>
                  <a:srgbClr val="333333"/>
                </a:solidFill>
              </a:rPr>
              <a:t>• Traditional adder-based reduction techniques result in longer critical path delays</a:t>
            </a:r>
            <a:endParaRPr lang="en-US" sz="1400" dirty="0"/>
          </a:p>
          <a:p>
            <a:pPr algn="l" indent="0" marL="0">
              <a:buNone/>
            </a:pPr>
            <a:r>
              <a:rPr lang="en-US" sz="1400" dirty="0">
                <a:solidFill>
                  <a:srgbClr val="333333"/>
                </a:solidFill>
              </a:rPr>
              <a:t>• Absence of advanced compressor tree implementations leads to suboptimal speed and area utilization</a:t>
            </a:r>
            <a:endParaRPr lang="en-US" sz="1400" dirty="0"/>
          </a:p>
          <a:p>
            <a:pPr algn="l" indent="0" marL="0">
              <a:buNone/>
            </a:pPr>
            <a:r>
              <a:rPr lang="en-US" sz="1400" dirty="0">
                <a:solidFill>
                  <a:srgbClr val="333333"/>
                </a:solidFill>
              </a:rPr>
              <a:t>• Limited integration with AI-specific MAC units reduces overall accelerator efficiency</a:t>
            </a:r>
            <a:endParaRPr lang="en-US" sz="1400" dirty="0"/>
          </a:p>
          <a:p>
            <a:pPr algn="l" indent="0" marL="0">
              <a:buNone/>
            </a:pPr>
            <a:r>
              <a:rPr lang="en-US" sz="1400" dirty="0">
                <a:solidFill>
                  <a:srgbClr val="333333"/>
                </a:solidFill>
              </a:rPr>
              <a:t>• Inadequate optimization for CNN convolution operations in neural network hardware</a:t>
            </a:r>
            <a:endParaRPr lang="en-US" sz="1400" dirty="0"/>
          </a:p>
          <a:p>
            <a:pPr algn="l" indent="0" marL="0">
              <a:buNone/>
            </a:pPr>
            <a:r>
              <a:rPr lang="en-US" sz="1400" dirty="0">
                <a:solidFill>
                  <a:srgbClr val="333333"/>
                </a:solidFill>
              </a:rPr>
              <a:t>• High dynamic power consumption due to inefficient partial product accumulation</a:t>
            </a:r>
            <a:endParaRPr lang="en-US" sz="1400" dirty="0"/>
          </a:p>
          <a:p>
            <a:pPr algn="l" indent="0" marL="0">
              <a:buNone/>
            </a:pPr>
            <a:endParaRPr lang="en-US" sz="1400" dirty="0"/>
          </a:p>
          <a:p>
            <a:pPr algn="l" indent="0" marL="0">
              <a:buNone/>
            </a:pPr>
            <a:r>
              <a:rPr lang="en-US" sz="1400" dirty="0">
                <a:solidFill>
                  <a:srgbClr val="333333"/>
                </a:solidFill>
              </a:rPr>
              <a:t>These limitations create a significant bottleneck in achieving the performance and energy efficiency targets required for modern edge AI processors, FPGA-based neural network accelerators, and embedded AI systems. There is a critical need for an enhanced multiplier architecture that addresses these challenges through architectural innovation, pipelining, and optimized reduction techniques.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2800" b="1" dirty="0">
                <a:solidFill>
                  <a:srgbClr val="1E3A5F"/>
                </a:solidFill>
              </a:rPr>
              <a:t>Base Paper: Radix-8 Bit Pair Recoding Algorithm</a:t>
            </a:r>
            <a:endParaRPr lang="en-US" sz="2800" dirty="0"/>
          </a:p>
        </p:txBody>
      </p:sp>
      <p:sp>
        <p:nvSpPr>
          <p:cNvPr id="6" name="Text 4"/>
          <p:cNvSpPr/>
          <p:nvPr/>
        </p:nvSpPr>
        <p:spPr>
          <a:xfrm>
            <a:off x="457200" y="1005840"/>
            <a:ext cx="3931920" cy="3474720"/>
          </a:xfrm>
          <a:prstGeom prst="rect">
            <a:avLst/>
          </a:prstGeom>
          <a:noFill/>
          <a:ln/>
        </p:spPr>
        <p:txBody>
          <a:bodyPr wrap="square" rtlCol="0" anchor="t"/>
          <a:lstStyle/>
          <a:p>
            <a:pPr algn="l" indent="0" marL="0">
              <a:buNone/>
            </a:pPr>
            <a:r>
              <a:rPr lang="en-US" sz="1600" b="1" dirty="0">
                <a:solidFill>
                  <a:srgbClr val="1E3A5F"/>
                </a:solidFill>
              </a:rPr>
              <a:t>Key Concept:</a:t>
            </a:r>
            <a:endParaRPr lang="en-US" sz="1400" dirty="0"/>
          </a:p>
          <a:p>
            <a:pPr algn="l" indent="0" marL="0">
              <a:buNone/>
            </a:pPr>
            <a:r>
              <a:rPr lang="en-US" sz="1400" dirty="0">
                <a:solidFill>
                  <a:srgbClr val="333333"/>
                </a:solidFill>
              </a:rPr>
              <a:t>The Radix-8 Bit Pair Recoding (BPR) algorithm significantly reduces partial products from n to n/4 by utilizing non-overlapping 4-bit recoding groups, making it more efficient than conventional Booth multipliers.</a:t>
            </a:r>
            <a:endParaRPr lang="en-US" sz="1400" dirty="0"/>
          </a:p>
          <a:p>
            <a:pPr algn="l" indent="0" marL="0">
              <a:buNone/>
            </a:pPr>
            <a:endParaRPr lang="en-US" sz="1400" dirty="0"/>
          </a:p>
          <a:p>
            <a:pPr algn="l" indent="0" marL="0">
              <a:buNone/>
            </a:pPr>
            <a:r>
              <a:rPr lang="en-US" sz="1600" b="1" dirty="0">
                <a:solidFill>
                  <a:srgbClr val="1E3A5F"/>
                </a:solidFill>
              </a:rPr>
              <a:t>Core Advantages:</a:t>
            </a:r>
            <a:endParaRPr lang="en-US" sz="1400" dirty="0"/>
          </a:p>
          <a:p>
            <a:pPr algn="l" marL="342900" indent="-342900">
              <a:buSzPct val="100000"/>
              <a:buChar char="•"/>
            </a:pPr>
            <a:r>
              <a:rPr lang="en-US" sz="1400" dirty="0">
                <a:solidFill>
                  <a:srgbClr val="333333"/>
                </a:solidFill>
              </a:rPr>
              <a:t>• Eliminates the need for 2's complement computation</a:t>
            </a:r>
            <a:endParaRPr lang="en-US" sz="1400" dirty="0"/>
          </a:p>
          <a:p>
            <a:pPr algn="l" marL="342900" indent="-342900">
              <a:buSzPct val="100000"/>
              <a:buChar char="•"/>
            </a:pPr>
            <a:r>
              <a:rPr lang="en-US" sz="1400" dirty="0">
                <a:solidFill>
                  <a:srgbClr val="333333"/>
                </a:solidFill>
              </a:rPr>
              <a:t>• Removes sign extension requirements</a:t>
            </a:r>
            <a:endParaRPr lang="en-US" sz="1400" dirty="0"/>
          </a:p>
          <a:p>
            <a:pPr algn="l" marL="342900" indent="-342900">
              <a:buSzPct val="100000"/>
              <a:buChar char="•"/>
            </a:pPr>
            <a:r>
              <a:rPr lang="en-US" sz="1400" dirty="0">
                <a:solidFill>
                  <a:srgbClr val="333333"/>
                </a:solidFill>
              </a:rPr>
              <a:t>• Optimized for unsigned floating-point mantissa multiplication</a:t>
            </a:r>
            <a:endParaRPr lang="en-US" sz="1400" dirty="0"/>
          </a:p>
          <a:p>
            <a:pPr algn="l" marL="342900" indent="-342900">
              <a:buSzPct val="100000"/>
              <a:buChar char="•"/>
            </a:pPr>
            <a:r>
              <a:rPr lang="en-US" sz="1400" dirty="0">
                <a:solidFill>
                  <a:srgbClr val="333333"/>
                </a:solidFill>
              </a:rPr>
              <a:t>• Particularly efficient for CNN accelerator applications</a:t>
            </a:r>
            <a:endParaRPr lang="en-US" sz="1400" dirty="0"/>
          </a:p>
          <a:p>
            <a:pPr algn="l" marL="342900" indent="-342900">
              <a:buSzPct val="100000"/>
              <a:buChar char="•"/>
            </a:pPr>
            <a:r>
              <a:rPr lang="en-US" sz="1400" dirty="0">
                <a:solidFill>
                  <a:srgbClr val="333333"/>
                </a:solidFill>
              </a:rPr>
              <a:t>• Reduces number of partial products by 75%</a:t>
            </a:r>
            <a:endParaRPr lang="en-US" sz="1400" dirty="0"/>
          </a:p>
        </p:txBody>
      </p:sp>
      <p:sp>
        <p:nvSpPr>
          <p:cNvPr id="7" name="Text 5"/>
          <p:cNvSpPr/>
          <p:nvPr/>
        </p:nvSpPr>
        <p:spPr>
          <a:xfrm>
            <a:off x="4754880" y="1005840"/>
            <a:ext cx="3931920" cy="3474720"/>
          </a:xfrm>
          <a:prstGeom prst="rect">
            <a:avLst/>
          </a:prstGeom>
          <a:noFill/>
          <a:ln/>
        </p:spPr>
        <p:txBody>
          <a:bodyPr wrap="square" rtlCol="0" anchor="t"/>
          <a:lstStyle/>
          <a:p>
            <a:pPr algn="l" indent="0" marL="0">
              <a:buNone/>
            </a:pPr>
            <a:r>
              <a:rPr lang="en-US" sz="1600" b="1" dirty="0">
                <a:solidFill>
                  <a:srgbClr val="C1272D"/>
                </a:solidFill>
              </a:rPr>
              <a:t>Limitations of Base Paper:</a:t>
            </a:r>
            <a:endParaRPr lang="en-US" sz="1400" dirty="0"/>
          </a:p>
          <a:p>
            <a:pPr algn="l" marL="342900" indent="-342900">
              <a:buSzPct val="100000"/>
              <a:buChar char="•"/>
            </a:pPr>
            <a:r>
              <a:rPr lang="en-US" sz="1400" dirty="0">
                <a:solidFill>
                  <a:srgbClr val="333333"/>
                </a:solidFill>
              </a:rPr>
              <a:t>• No pipelined architecture implementation</a:t>
            </a:r>
            <a:endParaRPr lang="en-US" sz="1400" dirty="0"/>
          </a:p>
          <a:p>
            <a:pPr algn="l" marL="342900" indent="-342900">
              <a:buSzPct val="100000"/>
              <a:buChar char="•"/>
            </a:pPr>
            <a:r>
              <a:rPr lang="en-US" sz="1400" dirty="0">
                <a:solidFill>
                  <a:srgbClr val="333333"/>
                </a:solidFill>
              </a:rPr>
              <a:t>• Uses conventional adder-based reduction</a:t>
            </a:r>
            <a:endParaRPr lang="en-US" sz="1400" dirty="0"/>
          </a:p>
          <a:p>
            <a:pPr algn="l" marL="342900" indent="-342900">
              <a:buSzPct val="100000"/>
              <a:buChar char="•"/>
            </a:pPr>
            <a:r>
              <a:rPr lang="en-US" sz="1400" dirty="0">
                <a:solidFill>
                  <a:srgbClr val="333333"/>
                </a:solidFill>
              </a:rPr>
              <a:t>• Limited throughput optimization</a:t>
            </a:r>
            <a:endParaRPr lang="en-US" sz="1400" dirty="0"/>
          </a:p>
          <a:p>
            <a:pPr algn="l" marL="342900" indent="-342900">
              <a:buSzPct val="100000"/>
              <a:buChar char="•"/>
            </a:pPr>
            <a:r>
              <a:rPr lang="en-US" sz="1400" dirty="0">
                <a:solidFill>
                  <a:srgbClr val="333333"/>
                </a:solidFill>
              </a:rPr>
              <a:t>• No advanced compressor tree design</a:t>
            </a:r>
            <a:endParaRPr lang="en-US" sz="1400" dirty="0"/>
          </a:p>
          <a:p>
            <a:pPr algn="l" marL="342900" indent="-342900">
              <a:buSzPct val="100000"/>
              <a:buChar char="•"/>
            </a:pPr>
            <a:r>
              <a:rPr lang="en-US" sz="1400" dirty="0">
                <a:solidFill>
                  <a:srgbClr val="333333"/>
                </a:solidFill>
              </a:rPr>
              <a:t>• Minimal AI accelerator integration</a:t>
            </a:r>
            <a:endParaRPr lang="en-US" sz="1400" dirty="0"/>
          </a:p>
          <a:p>
            <a:pPr algn="l" marL="342900" indent="-342900">
              <a:buSzPct val="100000"/>
              <a:buChar char="•"/>
            </a:pPr>
            <a:r>
              <a:rPr lang="en-US" sz="1400" dirty="0">
                <a:solidFill>
                  <a:srgbClr val="333333"/>
                </a:solidFill>
              </a:rPr>
              <a:t>• Higher critical path delay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2800" b="1" dirty="0">
                <a:solidFill>
                  <a:srgbClr val="1E3A5F"/>
                </a:solidFill>
              </a:rPr>
              <a:t>Proposed Enhancements &amp; Innovations</a:t>
            </a:r>
            <a:endParaRPr lang="en-US" sz="2800" dirty="0"/>
          </a:p>
        </p:txBody>
      </p:sp>
      <p:sp>
        <p:nvSpPr>
          <p:cNvPr id="6" name="Shape 4"/>
          <p:cNvSpPr/>
          <p:nvPr/>
        </p:nvSpPr>
        <p:spPr>
          <a:xfrm>
            <a:off x="457200" y="1005840"/>
            <a:ext cx="3931920" cy="1463040"/>
          </a:xfrm>
          <a:prstGeom prst="rect">
            <a:avLst/>
          </a:prstGeom>
          <a:solidFill>
            <a:srgbClr val="FFFFFF"/>
          </a:solidFill>
          <a:ln w="25400">
            <a:solidFill>
              <a:srgbClr val="1F4788"/>
            </a:solidFill>
            <a:prstDash val="solid"/>
          </a:ln>
        </p:spPr>
      </p:sp>
      <p:sp>
        <p:nvSpPr>
          <p:cNvPr id="7" name="Text 5"/>
          <p:cNvSpPr/>
          <p:nvPr/>
        </p:nvSpPr>
        <p:spPr>
          <a:xfrm>
            <a:off x="548640" y="1097280"/>
            <a:ext cx="3749040" cy="1280160"/>
          </a:xfrm>
          <a:prstGeom prst="rect">
            <a:avLst/>
          </a:prstGeom>
          <a:noFill/>
          <a:ln/>
        </p:spPr>
        <p:txBody>
          <a:bodyPr wrap="square" rtlCol="0" anchor="ctr"/>
          <a:lstStyle/>
          <a:p>
            <a:pPr algn="l" indent="0" marL="0">
              <a:buNone/>
            </a:pPr>
            <a:r>
              <a:rPr lang="en-US" sz="1500" b="1" dirty="0">
                <a:solidFill>
                  <a:srgbClr val="1F4788"/>
                </a:solidFill>
              </a:rPr>
              <a:t>1. Multi-Stage Pipelined Architecture</a:t>
            </a:r>
            <a:endParaRPr lang="en-US" sz="1500" dirty="0"/>
          </a:p>
          <a:p>
            <a:pPr algn="l" marL="342900" indent="-342900">
              <a:buSzPct val="100000"/>
              <a:buChar char="•"/>
            </a:pPr>
            <a:r>
              <a:rPr lang="en-US" sz="1200" dirty="0">
                <a:solidFill>
                  <a:srgbClr val="333333"/>
                </a:solidFill>
              </a:rPr>
              <a:t>Stage 1: BPR Recoding</a:t>
            </a:r>
            <a:endParaRPr lang="en-US" sz="1500" dirty="0"/>
          </a:p>
          <a:p>
            <a:pPr algn="l" marL="342900" indent="-342900">
              <a:buSzPct val="100000"/>
              <a:buChar char="•"/>
            </a:pPr>
            <a:r>
              <a:rPr lang="en-US" sz="1200" dirty="0">
                <a:solidFill>
                  <a:srgbClr val="333333"/>
                </a:solidFill>
              </a:rPr>
              <a:t>Stage 2: Partial Product Generation</a:t>
            </a:r>
            <a:endParaRPr lang="en-US" sz="1500" dirty="0"/>
          </a:p>
          <a:p>
            <a:pPr algn="l" marL="342900" indent="-342900">
              <a:buSzPct val="100000"/>
              <a:buChar char="•"/>
            </a:pPr>
            <a:r>
              <a:rPr lang="en-US" sz="1200" dirty="0">
                <a:solidFill>
                  <a:srgbClr val="333333"/>
                </a:solidFill>
              </a:rPr>
              <a:t>Stage 3: Compressor-Based Reduction</a:t>
            </a:r>
            <a:endParaRPr lang="en-US" sz="1500" dirty="0"/>
          </a:p>
          <a:p>
            <a:pPr algn="l" marL="342900" indent="-342900">
              <a:buSzPct val="100000"/>
              <a:buChar char="•"/>
            </a:pPr>
            <a:r>
              <a:rPr lang="en-US" sz="1200" dirty="0">
                <a:solidFill>
                  <a:srgbClr val="333333"/>
                </a:solidFill>
              </a:rPr>
              <a:t>Stage 4: Final Addition</a:t>
            </a:r>
            <a:endParaRPr lang="en-US" sz="1500" dirty="0"/>
          </a:p>
          <a:p>
            <a:pPr algn="l" indent="0" marL="0">
              <a:buNone/>
            </a:pPr>
            <a:r>
              <a:rPr lang="en-US" sz="1100" i="1" dirty="0">
                <a:solidFill>
                  <a:srgbClr val="333333"/>
                </a:solidFill>
              </a:rPr>
              <a:t>→ Improves throughput &amp; operating frequency</a:t>
            </a:r>
            <a:endParaRPr lang="en-US" sz="1500" dirty="0"/>
          </a:p>
        </p:txBody>
      </p:sp>
      <p:sp>
        <p:nvSpPr>
          <p:cNvPr id="8" name="Shape 6"/>
          <p:cNvSpPr/>
          <p:nvPr/>
        </p:nvSpPr>
        <p:spPr>
          <a:xfrm>
            <a:off x="4754880" y="1005840"/>
            <a:ext cx="3931920" cy="1463040"/>
          </a:xfrm>
          <a:prstGeom prst="rect">
            <a:avLst/>
          </a:prstGeom>
          <a:solidFill>
            <a:srgbClr val="FFFFFF"/>
          </a:solidFill>
          <a:ln w="25400">
            <a:solidFill>
              <a:srgbClr val="1F4788"/>
            </a:solidFill>
            <a:prstDash val="solid"/>
          </a:ln>
        </p:spPr>
      </p:sp>
      <p:sp>
        <p:nvSpPr>
          <p:cNvPr id="9" name="Text 7"/>
          <p:cNvSpPr/>
          <p:nvPr/>
        </p:nvSpPr>
        <p:spPr>
          <a:xfrm>
            <a:off x="4846320" y="1097280"/>
            <a:ext cx="3749040" cy="1280160"/>
          </a:xfrm>
          <a:prstGeom prst="rect">
            <a:avLst/>
          </a:prstGeom>
          <a:noFill/>
          <a:ln/>
        </p:spPr>
        <p:txBody>
          <a:bodyPr wrap="square" rtlCol="0" anchor="ctr"/>
          <a:lstStyle/>
          <a:p>
            <a:pPr algn="l" indent="0" marL="0">
              <a:buNone/>
            </a:pPr>
            <a:r>
              <a:rPr lang="en-US" sz="1500" b="1" dirty="0">
                <a:solidFill>
                  <a:srgbClr val="1F4788"/>
                </a:solidFill>
              </a:rPr>
              <a:t>2. Compressor-Based Reduction</a:t>
            </a:r>
            <a:endParaRPr lang="en-US" sz="1500" dirty="0"/>
          </a:p>
          <a:p>
            <a:pPr algn="l" marL="342900" indent="-342900">
              <a:buSzPct val="100000"/>
              <a:buChar char="•"/>
            </a:pPr>
            <a:r>
              <a:rPr lang="en-US" sz="1200" dirty="0">
                <a:solidFill>
                  <a:srgbClr val="333333"/>
                </a:solidFill>
              </a:rPr>
              <a:t>• Replace conventional adders with 4:2 compressors</a:t>
            </a:r>
            <a:endParaRPr lang="en-US" sz="1500" dirty="0"/>
          </a:p>
          <a:p>
            <a:pPr algn="l" marL="342900" indent="-342900">
              <a:buSzPct val="100000"/>
              <a:buChar char="•"/>
            </a:pPr>
            <a:r>
              <a:rPr lang="en-US" sz="1200" dirty="0">
                <a:solidFill>
                  <a:srgbClr val="333333"/>
                </a:solidFill>
              </a:rPr>
              <a:t>• Implement Wallace tree reduction architecture</a:t>
            </a:r>
            <a:endParaRPr lang="en-US" sz="1500" dirty="0"/>
          </a:p>
          <a:p>
            <a:pPr algn="l" marL="342900" indent="-342900">
              <a:buSzPct val="100000"/>
              <a:buChar char="•"/>
            </a:pPr>
            <a:r>
              <a:rPr lang="en-US" sz="1200" dirty="0">
                <a:solidFill>
                  <a:srgbClr val="333333"/>
                </a:solidFill>
              </a:rPr>
              <a:t>• Reduces critical path delay significantly</a:t>
            </a:r>
            <a:endParaRPr lang="en-US" sz="1500" dirty="0"/>
          </a:p>
          <a:p>
            <a:pPr algn="l" indent="0" marL="0">
              <a:buNone/>
            </a:pPr>
            <a:r>
              <a:rPr lang="en-US" sz="1100" i="1" dirty="0">
                <a:solidFill>
                  <a:srgbClr val="333333"/>
                </a:solidFill>
              </a:rPr>
              <a:t>→ Enhanced speed and reduced area</a:t>
            </a:r>
            <a:endParaRPr lang="en-US" sz="1500" dirty="0"/>
          </a:p>
        </p:txBody>
      </p:sp>
      <p:sp>
        <p:nvSpPr>
          <p:cNvPr id="10" name="Shape 8"/>
          <p:cNvSpPr/>
          <p:nvPr/>
        </p:nvSpPr>
        <p:spPr>
          <a:xfrm>
            <a:off x="457200" y="2651760"/>
            <a:ext cx="3931920" cy="1371600"/>
          </a:xfrm>
          <a:prstGeom prst="rect">
            <a:avLst/>
          </a:prstGeom>
          <a:solidFill>
            <a:srgbClr val="FFFFFF"/>
          </a:solidFill>
          <a:ln w="25400">
            <a:solidFill>
              <a:srgbClr val="1F4788"/>
            </a:solidFill>
            <a:prstDash val="solid"/>
          </a:ln>
        </p:spPr>
      </p:sp>
      <p:sp>
        <p:nvSpPr>
          <p:cNvPr id="11" name="Text 9"/>
          <p:cNvSpPr/>
          <p:nvPr/>
        </p:nvSpPr>
        <p:spPr>
          <a:xfrm>
            <a:off x="548640" y="2743200"/>
            <a:ext cx="3749040" cy="1188720"/>
          </a:xfrm>
          <a:prstGeom prst="rect">
            <a:avLst/>
          </a:prstGeom>
          <a:noFill/>
          <a:ln/>
        </p:spPr>
        <p:txBody>
          <a:bodyPr wrap="square" rtlCol="0" anchor="ctr"/>
          <a:lstStyle/>
          <a:p>
            <a:pPr algn="l" indent="0" marL="0">
              <a:buNone/>
            </a:pPr>
            <a:r>
              <a:rPr lang="en-US" sz="1500" b="1" dirty="0">
                <a:solidFill>
                  <a:srgbClr val="1F4788"/>
                </a:solidFill>
              </a:rPr>
              <a:t>3. Optimized FP16 MAC Integration</a:t>
            </a:r>
            <a:endParaRPr lang="en-US" sz="1500" dirty="0"/>
          </a:p>
          <a:p>
            <a:pPr algn="l" marL="342900" indent="-342900">
              <a:buSzPct val="100000"/>
              <a:buChar char="•"/>
            </a:pPr>
            <a:r>
              <a:rPr lang="en-US" sz="1200" dirty="0">
                <a:solidFill>
                  <a:srgbClr val="333333"/>
                </a:solidFill>
              </a:rPr>
              <a:t>• Integrate into FP16 Multiply-Accumulate unit</a:t>
            </a:r>
            <a:endParaRPr lang="en-US" sz="1500" dirty="0"/>
          </a:p>
          <a:p>
            <a:pPr algn="l" marL="342900" indent="-342900">
              <a:buSzPct val="100000"/>
              <a:buChar char="•"/>
            </a:pPr>
            <a:r>
              <a:rPr lang="en-US" sz="1200" dirty="0">
                <a:solidFill>
                  <a:srgbClr val="333333"/>
                </a:solidFill>
              </a:rPr>
              <a:t>• Apply in CNN convolution operations</a:t>
            </a:r>
            <a:endParaRPr lang="en-US" sz="1500" dirty="0"/>
          </a:p>
          <a:p>
            <a:pPr algn="l" marL="342900" indent="-342900">
              <a:buSzPct val="100000"/>
              <a:buChar char="•"/>
            </a:pPr>
            <a:r>
              <a:rPr lang="en-US" sz="1200" dirty="0">
                <a:solidFill>
                  <a:srgbClr val="333333"/>
                </a:solidFill>
              </a:rPr>
              <a:t>• Optimized for AI accelerator workloads</a:t>
            </a:r>
            <a:endParaRPr lang="en-US" sz="1500" dirty="0"/>
          </a:p>
          <a:p>
            <a:pPr algn="l" indent="0" marL="0">
              <a:buNone/>
            </a:pPr>
            <a:r>
              <a:rPr lang="en-US" sz="1100" i="1" dirty="0">
                <a:solidFill>
                  <a:srgbClr val="333333"/>
                </a:solidFill>
              </a:rPr>
              <a:t>→ Superior neural network performance</a:t>
            </a:r>
            <a:endParaRPr lang="en-US" sz="1500" dirty="0"/>
          </a:p>
        </p:txBody>
      </p:sp>
      <p:sp>
        <p:nvSpPr>
          <p:cNvPr id="12" name="Shape 10"/>
          <p:cNvSpPr/>
          <p:nvPr/>
        </p:nvSpPr>
        <p:spPr>
          <a:xfrm>
            <a:off x="4754880" y="2651760"/>
            <a:ext cx="3931920" cy="1371600"/>
          </a:xfrm>
          <a:prstGeom prst="rect">
            <a:avLst/>
          </a:prstGeom>
          <a:solidFill>
            <a:srgbClr val="FFFFFF"/>
          </a:solidFill>
          <a:ln w="25400">
            <a:solidFill>
              <a:srgbClr val="1F4788"/>
            </a:solidFill>
            <a:prstDash val="solid"/>
          </a:ln>
        </p:spPr>
      </p:sp>
      <p:sp>
        <p:nvSpPr>
          <p:cNvPr id="13" name="Text 11"/>
          <p:cNvSpPr/>
          <p:nvPr/>
        </p:nvSpPr>
        <p:spPr>
          <a:xfrm>
            <a:off x="4846320" y="2743200"/>
            <a:ext cx="3749040" cy="1188720"/>
          </a:xfrm>
          <a:prstGeom prst="rect">
            <a:avLst/>
          </a:prstGeom>
          <a:noFill/>
          <a:ln/>
        </p:spPr>
        <p:txBody>
          <a:bodyPr wrap="square" rtlCol="0" anchor="ctr"/>
          <a:lstStyle/>
          <a:p>
            <a:pPr algn="l" indent="0" marL="0">
              <a:buNone/>
            </a:pPr>
            <a:r>
              <a:rPr lang="en-US" sz="1500" b="1" dirty="0">
                <a:solidFill>
                  <a:srgbClr val="1F4788"/>
                </a:solidFill>
              </a:rPr>
              <a:t>4. Hardware Optimization</a:t>
            </a:r>
            <a:endParaRPr lang="en-US" sz="1500" dirty="0"/>
          </a:p>
          <a:p>
            <a:pPr algn="l" marL="342900" indent="-342900">
              <a:buSzPct val="100000"/>
              <a:buChar char="•"/>
            </a:pPr>
            <a:r>
              <a:rPr lang="en-US" sz="1200" dirty="0">
                <a:solidFill>
                  <a:srgbClr val="333333"/>
                </a:solidFill>
              </a:rPr>
              <a:t>• Reduced area utilization</a:t>
            </a:r>
            <a:endParaRPr lang="en-US" sz="1500" dirty="0"/>
          </a:p>
          <a:p>
            <a:pPr algn="l" marL="342900" indent="-342900">
              <a:buSzPct val="100000"/>
              <a:buChar char="•"/>
            </a:pPr>
            <a:r>
              <a:rPr lang="en-US" sz="1200" dirty="0">
                <a:solidFill>
                  <a:srgbClr val="333333"/>
                </a:solidFill>
              </a:rPr>
              <a:t>• Lower power consumption</a:t>
            </a:r>
            <a:endParaRPr lang="en-US" sz="1500" dirty="0"/>
          </a:p>
          <a:p>
            <a:pPr algn="l" marL="342900" indent="-342900">
              <a:buSzPct val="100000"/>
              <a:buChar char="•"/>
            </a:pPr>
            <a:r>
              <a:rPr lang="en-US" sz="1200" dirty="0">
                <a:solidFill>
                  <a:srgbClr val="333333"/>
                </a:solidFill>
              </a:rPr>
              <a:t>• Minimized propagation delay</a:t>
            </a:r>
            <a:endParaRPr lang="en-US" sz="1500" dirty="0"/>
          </a:p>
          <a:p>
            <a:pPr algn="l" indent="0" marL="0">
              <a:buNone/>
            </a:pPr>
            <a:r>
              <a:rPr lang="en-US" sz="1100" i="1" dirty="0">
                <a:solidFill>
                  <a:srgbClr val="333333"/>
                </a:solidFill>
              </a:rPr>
              <a:t>→ Improved overall energy efficiency</a:t>
            </a:r>
            <a:endParaRPr lang="en-US" sz="1500" dirty="0"/>
          </a:p>
        </p:txBody>
      </p:sp>
      <p:sp>
        <p:nvSpPr>
          <p:cNvPr id="14" name="Shape 12"/>
          <p:cNvSpPr/>
          <p:nvPr/>
        </p:nvSpPr>
        <p:spPr>
          <a:xfrm>
            <a:off x="457200" y="4206240"/>
            <a:ext cx="8229600" cy="548640"/>
          </a:xfrm>
          <a:prstGeom prst="rect">
            <a:avLst/>
          </a:prstGeom>
          <a:solidFill>
            <a:srgbClr val="1F4788"/>
          </a:solidFill>
          <a:ln/>
        </p:spPr>
      </p:sp>
      <p:sp>
        <p:nvSpPr>
          <p:cNvPr id="15" name="Text 13"/>
          <p:cNvSpPr/>
          <p:nvPr/>
        </p:nvSpPr>
        <p:spPr>
          <a:xfrm>
            <a:off x="457200" y="4206240"/>
            <a:ext cx="8229600" cy="548640"/>
          </a:xfrm>
          <a:prstGeom prst="rect">
            <a:avLst/>
          </a:prstGeom>
          <a:noFill/>
          <a:ln/>
        </p:spPr>
        <p:txBody>
          <a:bodyPr wrap="square" rtlCol="0" anchor="ctr"/>
          <a:lstStyle/>
          <a:p>
            <a:pPr algn="ctr" indent="0" marL="0">
              <a:buNone/>
            </a:pPr>
            <a:r>
              <a:rPr lang="en-US" sz="1400" b="1" dirty="0">
                <a:solidFill>
                  <a:srgbClr val="FFFFFF"/>
                </a:solidFill>
              </a:rPr>
              <a:t>Expected Outcome: 15-25% lower delay | 20-30% lower power | Enhanced throughput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2800" b="1" dirty="0">
                <a:solidFill>
                  <a:srgbClr val="1E3A5F"/>
                </a:solidFill>
              </a:rPr>
              <a:t>Proposed Architecture Flow</a:t>
            </a:r>
            <a:endParaRPr lang="en-US" sz="2800" dirty="0"/>
          </a:p>
        </p:txBody>
      </p:sp>
      <p:sp>
        <p:nvSpPr>
          <p:cNvPr id="6" name="Shape 4"/>
          <p:cNvSpPr/>
          <p:nvPr/>
        </p:nvSpPr>
        <p:spPr>
          <a:xfrm>
            <a:off x="2971800" y="1097280"/>
            <a:ext cx="3200400" cy="457200"/>
          </a:xfrm>
          <a:prstGeom prst="rect">
            <a:avLst/>
          </a:prstGeom>
          <a:solidFill>
            <a:srgbClr val="C1272D"/>
          </a:solidFill>
          <a:ln/>
        </p:spPr>
      </p:sp>
      <p:sp>
        <p:nvSpPr>
          <p:cNvPr id="7" name="Text 5"/>
          <p:cNvSpPr/>
          <p:nvPr/>
        </p:nvSpPr>
        <p:spPr>
          <a:xfrm>
            <a:off x="2971800" y="1097280"/>
            <a:ext cx="3200400" cy="457200"/>
          </a:xfrm>
          <a:prstGeom prst="rect">
            <a:avLst/>
          </a:prstGeom>
          <a:noFill/>
          <a:ln/>
        </p:spPr>
        <p:txBody>
          <a:bodyPr wrap="square" rtlCol="0" anchor="ctr"/>
          <a:lstStyle/>
          <a:p>
            <a:pPr algn="ctr" indent="0" marL="0">
              <a:buNone/>
            </a:pPr>
            <a:r>
              <a:rPr lang="en-US" sz="1100" b="1" dirty="0">
                <a:solidFill>
                  <a:srgbClr val="FFFFFF"/>
                </a:solidFill>
              </a:rPr>
              <a:t>Input (X, Y)</a:t>
            </a:r>
            <a:endParaRPr lang="en-US" sz="1100" dirty="0"/>
          </a:p>
        </p:txBody>
      </p:sp>
      <p:sp>
        <p:nvSpPr>
          <p:cNvPr id="8" name="Shape 6"/>
          <p:cNvSpPr/>
          <p:nvPr/>
        </p:nvSpPr>
        <p:spPr>
          <a:xfrm>
            <a:off x="4572000" y="1554480"/>
            <a:ext cx="0" cy="182880"/>
          </a:xfrm>
          <a:prstGeom prst="line">
            <a:avLst/>
          </a:prstGeom>
          <a:noFill/>
          <a:ln w="38100">
            <a:solidFill>
              <a:srgbClr val="333333"/>
            </a:solidFill>
            <a:prstDash val="solid"/>
            <a:tailEnd type="arrow"/>
          </a:ln>
        </p:spPr>
      </p:sp>
      <p:sp>
        <p:nvSpPr>
          <p:cNvPr id="9" name="Shape 7"/>
          <p:cNvSpPr/>
          <p:nvPr/>
        </p:nvSpPr>
        <p:spPr>
          <a:xfrm>
            <a:off x="2971800" y="1737360"/>
            <a:ext cx="3200400" cy="457200"/>
          </a:xfrm>
          <a:prstGeom prst="rect">
            <a:avLst/>
          </a:prstGeom>
          <a:solidFill>
            <a:srgbClr val="1F4788"/>
          </a:solidFill>
          <a:ln/>
        </p:spPr>
      </p:sp>
      <p:sp>
        <p:nvSpPr>
          <p:cNvPr id="10" name="Text 8"/>
          <p:cNvSpPr/>
          <p:nvPr/>
        </p:nvSpPr>
        <p:spPr>
          <a:xfrm>
            <a:off x="2971800" y="1737360"/>
            <a:ext cx="3200400" cy="457200"/>
          </a:xfrm>
          <a:prstGeom prst="rect">
            <a:avLst/>
          </a:prstGeom>
          <a:noFill/>
          <a:ln/>
        </p:spPr>
        <p:txBody>
          <a:bodyPr wrap="square" rtlCol="0" anchor="ctr"/>
          <a:lstStyle/>
          <a:p>
            <a:pPr algn="ctr" indent="0" marL="0">
              <a:buNone/>
            </a:pPr>
            <a:r>
              <a:rPr lang="en-US" sz="1100" b="1" dirty="0">
                <a:solidFill>
                  <a:srgbClr val="FFFFFF"/>
                </a:solidFill>
              </a:rPr>
              <a:t>Enhanced BPR Recoder</a:t>
            </a:r>
            <a:endParaRPr lang="en-US" sz="1100" dirty="0"/>
          </a:p>
        </p:txBody>
      </p:sp>
      <p:sp>
        <p:nvSpPr>
          <p:cNvPr id="11" name="Shape 9"/>
          <p:cNvSpPr/>
          <p:nvPr/>
        </p:nvSpPr>
        <p:spPr>
          <a:xfrm>
            <a:off x="4572000" y="2194560"/>
            <a:ext cx="0" cy="182880"/>
          </a:xfrm>
          <a:prstGeom prst="line">
            <a:avLst/>
          </a:prstGeom>
          <a:noFill/>
          <a:ln w="38100">
            <a:solidFill>
              <a:srgbClr val="333333"/>
            </a:solidFill>
            <a:prstDash val="solid"/>
            <a:tailEnd type="arrow"/>
          </a:ln>
        </p:spPr>
      </p:sp>
      <p:sp>
        <p:nvSpPr>
          <p:cNvPr id="12" name="Shape 10"/>
          <p:cNvSpPr/>
          <p:nvPr/>
        </p:nvSpPr>
        <p:spPr>
          <a:xfrm>
            <a:off x="2971800" y="2377440"/>
            <a:ext cx="3200400" cy="457200"/>
          </a:xfrm>
          <a:prstGeom prst="rect">
            <a:avLst/>
          </a:prstGeom>
          <a:solidFill>
            <a:srgbClr val="1F4788"/>
          </a:solidFill>
          <a:ln/>
        </p:spPr>
      </p:sp>
      <p:sp>
        <p:nvSpPr>
          <p:cNvPr id="13" name="Text 11"/>
          <p:cNvSpPr/>
          <p:nvPr/>
        </p:nvSpPr>
        <p:spPr>
          <a:xfrm>
            <a:off x="2971800" y="2377440"/>
            <a:ext cx="3200400" cy="457200"/>
          </a:xfrm>
          <a:prstGeom prst="rect">
            <a:avLst/>
          </a:prstGeom>
          <a:noFill/>
          <a:ln/>
        </p:spPr>
        <p:txBody>
          <a:bodyPr wrap="square" rtlCol="0" anchor="ctr"/>
          <a:lstStyle/>
          <a:p>
            <a:pPr algn="ctr" indent="0" marL="0">
              <a:buNone/>
            </a:pPr>
            <a:r>
              <a:rPr lang="en-US" sz="1100" b="1" dirty="0">
                <a:solidFill>
                  <a:srgbClr val="FFFFFF"/>
                </a:solidFill>
              </a:rPr>
              <a:t>Predefined Value Generator (0X, 1X, 2X, 3X)</a:t>
            </a:r>
            <a:endParaRPr lang="en-US" sz="1100" dirty="0"/>
          </a:p>
        </p:txBody>
      </p:sp>
      <p:sp>
        <p:nvSpPr>
          <p:cNvPr id="14" name="Shape 12"/>
          <p:cNvSpPr/>
          <p:nvPr/>
        </p:nvSpPr>
        <p:spPr>
          <a:xfrm>
            <a:off x="4572000" y="2834640"/>
            <a:ext cx="0" cy="182880"/>
          </a:xfrm>
          <a:prstGeom prst="line">
            <a:avLst/>
          </a:prstGeom>
          <a:noFill/>
          <a:ln w="38100">
            <a:solidFill>
              <a:srgbClr val="333333"/>
            </a:solidFill>
            <a:prstDash val="solid"/>
            <a:tailEnd type="arrow"/>
          </a:ln>
        </p:spPr>
      </p:sp>
      <p:sp>
        <p:nvSpPr>
          <p:cNvPr id="15" name="Shape 13"/>
          <p:cNvSpPr/>
          <p:nvPr/>
        </p:nvSpPr>
        <p:spPr>
          <a:xfrm>
            <a:off x="2971800" y="3017520"/>
            <a:ext cx="3200400" cy="457200"/>
          </a:xfrm>
          <a:prstGeom prst="rect">
            <a:avLst/>
          </a:prstGeom>
          <a:solidFill>
            <a:srgbClr val="1F4788"/>
          </a:solidFill>
          <a:ln/>
        </p:spPr>
      </p:sp>
      <p:sp>
        <p:nvSpPr>
          <p:cNvPr id="16" name="Text 14"/>
          <p:cNvSpPr/>
          <p:nvPr/>
        </p:nvSpPr>
        <p:spPr>
          <a:xfrm>
            <a:off x="2971800" y="3017520"/>
            <a:ext cx="3200400" cy="457200"/>
          </a:xfrm>
          <a:prstGeom prst="rect">
            <a:avLst/>
          </a:prstGeom>
          <a:noFill/>
          <a:ln/>
        </p:spPr>
        <p:txBody>
          <a:bodyPr wrap="square" rtlCol="0" anchor="ctr"/>
          <a:lstStyle/>
          <a:p>
            <a:pPr algn="ctr" indent="0" marL="0">
              <a:buNone/>
            </a:pPr>
            <a:r>
              <a:rPr lang="en-US" sz="1100" b="1" dirty="0">
                <a:solidFill>
                  <a:srgbClr val="FFFFFF"/>
                </a:solidFill>
              </a:rPr>
              <a:t>Partial Product Generator</a:t>
            </a:r>
            <a:endParaRPr lang="en-US" sz="1100" dirty="0"/>
          </a:p>
        </p:txBody>
      </p:sp>
      <p:sp>
        <p:nvSpPr>
          <p:cNvPr id="17" name="Shape 15"/>
          <p:cNvSpPr/>
          <p:nvPr/>
        </p:nvSpPr>
        <p:spPr>
          <a:xfrm>
            <a:off x="4572000" y="3474720"/>
            <a:ext cx="0" cy="182880"/>
          </a:xfrm>
          <a:prstGeom prst="line">
            <a:avLst/>
          </a:prstGeom>
          <a:noFill/>
          <a:ln w="38100">
            <a:solidFill>
              <a:srgbClr val="333333"/>
            </a:solidFill>
            <a:prstDash val="solid"/>
            <a:tailEnd type="arrow"/>
          </a:ln>
        </p:spPr>
      </p:sp>
      <p:sp>
        <p:nvSpPr>
          <p:cNvPr id="18" name="Shape 16"/>
          <p:cNvSpPr/>
          <p:nvPr/>
        </p:nvSpPr>
        <p:spPr>
          <a:xfrm>
            <a:off x="2971800" y="3657600"/>
            <a:ext cx="3200400" cy="457200"/>
          </a:xfrm>
          <a:prstGeom prst="rect">
            <a:avLst/>
          </a:prstGeom>
          <a:solidFill>
            <a:srgbClr val="1E3A5F"/>
          </a:solidFill>
          <a:ln/>
        </p:spPr>
      </p:sp>
      <p:sp>
        <p:nvSpPr>
          <p:cNvPr id="19" name="Text 17"/>
          <p:cNvSpPr/>
          <p:nvPr/>
        </p:nvSpPr>
        <p:spPr>
          <a:xfrm>
            <a:off x="2971800" y="3657600"/>
            <a:ext cx="3200400" cy="457200"/>
          </a:xfrm>
          <a:prstGeom prst="rect">
            <a:avLst/>
          </a:prstGeom>
          <a:noFill/>
          <a:ln/>
        </p:spPr>
        <p:txBody>
          <a:bodyPr wrap="square" rtlCol="0" anchor="ctr"/>
          <a:lstStyle/>
          <a:p>
            <a:pPr algn="ctr" indent="0" marL="0">
              <a:buNone/>
            </a:pPr>
            <a:r>
              <a:rPr lang="en-US" sz="1100" b="1" dirty="0">
                <a:solidFill>
                  <a:srgbClr val="FFFFFF"/>
                </a:solidFill>
              </a:rPr>
              <a:t>4:2 Compressor Wallace Tree</a:t>
            </a:r>
            <a:endParaRPr lang="en-US" sz="1100" dirty="0"/>
          </a:p>
        </p:txBody>
      </p:sp>
      <p:sp>
        <p:nvSpPr>
          <p:cNvPr id="20" name="Shape 18"/>
          <p:cNvSpPr/>
          <p:nvPr/>
        </p:nvSpPr>
        <p:spPr>
          <a:xfrm>
            <a:off x="4572000" y="4114800"/>
            <a:ext cx="0" cy="182880"/>
          </a:xfrm>
          <a:prstGeom prst="line">
            <a:avLst/>
          </a:prstGeom>
          <a:noFill/>
          <a:ln w="38100">
            <a:solidFill>
              <a:srgbClr val="333333"/>
            </a:solidFill>
            <a:prstDash val="solid"/>
            <a:tailEnd type="arrow"/>
          </a:ln>
        </p:spPr>
      </p:sp>
      <p:sp>
        <p:nvSpPr>
          <p:cNvPr id="21" name="Shape 19"/>
          <p:cNvSpPr/>
          <p:nvPr/>
        </p:nvSpPr>
        <p:spPr>
          <a:xfrm>
            <a:off x="2971800" y="4297680"/>
            <a:ext cx="3200400" cy="457200"/>
          </a:xfrm>
          <a:prstGeom prst="rect">
            <a:avLst/>
          </a:prstGeom>
          <a:solidFill>
            <a:srgbClr val="C1272D"/>
          </a:solidFill>
          <a:ln/>
        </p:spPr>
      </p:sp>
      <p:sp>
        <p:nvSpPr>
          <p:cNvPr id="22" name="Text 20"/>
          <p:cNvSpPr/>
          <p:nvPr/>
        </p:nvSpPr>
        <p:spPr>
          <a:xfrm>
            <a:off x="2971800" y="4297680"/>
            <a:ext cx="3200400" cy="457200"/>
          </a:xfrm>
          <a:prstGeom prst="rect">
            <a:avLst/>
          </a:prstGeom>
          <a:noFill/>
          <a:ln/>
        </p:spPr>
        <p:txBody>
          <a:bodyPr wrap="square" rtlCol="0" anchor="ctr"/>
          <a:lstStyle/>
          <a:p>
            <a:pPr algn="ctr" indent="0" marL="0">
              <a:buNone/>
            </a:pPr>
            <a:r>
              <a:rPr lang="en-US" sz="1100" b="1" dirty="0">
                <a:solidFill>
                  <a:srgbClr val="FFFFFF"/>
                </a:solidFill>
              </a:rPr>
              <a:t>Pipeline Registers</a:t>
            </a:r>
            <a:endParaRPr lang="en-US" sz="1100" dirty="0"/>
          </a:p>
        </p:txBody>
      </p:sp>
      <p:sp>
        <p:nvSpPr>
          <p:cNvPr id="23" name="Shape 21"/>
          <p:cNvSpPr/>
          <p:nvPr/>
        </p:nvSpPr>
        <p:spPr>
          <a:xfrm>
            <a:off x="4572000" y="4754880"/>
            <a:ext cx="0" cy="182880"/>
          </a:xfrm>
          <a:prstGeom prst="line">
            <a:avLst/>
          </a:prstGeom>
          <a:noFill/>
          <a:ln w="38100">
            <a:solidFill>
              <a:srgbClr val="333333"/>
            </a:solidFill>
            <a:prstDash val="solid"/>
            <a:tailEnd type="arrow"/>
          </a:ln>
        </p:spPr>
      </p:sp>
      <p:sp>
        <p:nvSpPr>
          <p:cNvPr id="24" name="Shape 22"/>
          <p:cNvSpPr/>
          <p:nvPr/>
        </p:nvSpPr>
        <p:spPr>
          <a:xfrm>
            <a:off x="2971800" y="4937760"/>
            <a:ext cx="3200400" cy="457200"/>
          </a:xfrm>
          <a:prstGeom prst="rect">
            <a:avLst/>
          </a:prstGeom>
          <a:solidFill>
            <a:srgbClr val="1F4788"/>
          </a:solidFill>
          <a:ln/>
        </p:spPr>
      </p:sp>
      <p:sp>
        <p:nvSpPr>
          <p:cNvPr id="25" name="Text 23"/>
          <p:cNvSpPr/>
          <p:nvPr/>
        </p:nvSpPr>
        <p:spPr>
          <a:xfrm>
            <a:off x="2971800" y="4937760"/>
            <a:ext cx="3200400" cy="457200"/>
          </a:xfrm>
          <a:prstGeom prst="rect">
            <a:avLst/>
          </a:prstGeom>
          <a:noFill/>
          <a:ln/>
        </p:spPr>
        <p:txBody>
          <a:bodyPr wrap="square" rtlCol="0" anchor="ctr"/>
          <a:lstStyle/>
          <a:p>
            <a:pPr algn="ctr" indent="0" marL="0">
              <a:buNone/>
            </a:pPr>
            <a:r>
              <a:rPr lang="en-US" sz="1100" b="1" dirty="0">
                <a:solidFill>
                  <a:srgbClr val="FFFFFF"/>
                </a:solidFill>
              </a:rPr>
              <a:t>Carry Propagate Adder</a:t>
            </a:r>
            <a:endParaRPr lang="en-US" sz="1100" dirty="0"/>
          </a:p>
        </p:txBody>
      </p:sp>
      <p:sp>
        <p:nvSpPr>
          <p:cNvPr id="26" name="Shape 24"/>
          <p:cNvSpPr/>
          <p:nvPr/>
        </p:nvSpPr>
        <p:spPr>
          <a:xfrm>
            <a:off x="4572000" y="5394960"/>
            <a:ext cx="0" cy="182880"/>
          </a:xfrm>
          <a:prstGeom prst="line">
            <a:avLst/>
          </a:prstGeom>
          <a:noFill/>
          <a:ln w="38100">
            <a:solidFill>
              <a:srgbClr val="333333"/>
            </a:solidFill>
            <a:prstDash val="solid"/>
            <a:tailEnd type="arrow"/>
          </a:ln>
        </p:spPr>
      </p:sp>
      <p:sp>
        <p:nvSpPr>
          <p:cNvPr id="27" name="Shape 25"/>
          <p:cNvSpPr/>
          <p:nvPr/>
        </p:nvSpPr>
        <p:spPr>
          <a:xfrm>
            <a:off x="2971800" y="5577840"/>
            <a:ext cx="3200400" cy="457200"/>
          </a:xfrm>
          <a:prstGeom prst="rect">
            <a:avLst/>
          </a:prstGeom>
          <a:solidFill>
            <a:srgbClr val="1E3A5F"/>
          </a:solidFill>
          <a:ln/>
        </p:spPr>
      </p:sp>
      <p:sp>
        <p:nvSpPr>
          <p:cNvPr id="28" name="Text 26"/>
          <p:cNvSpPr/>
          <p:nvPr/>
        </p:nvSpPr>
        <p:spPr>
          <a:xfrm>
            <a:off x="2971800" y="5577840"/>
            <a:ext cx="3200400" cy="457200"/>
          </a:xfrm>
          <a:prstGeom prst="rect">
            <a:avLst/>
          </a:prstGeom>
          <a:noFill/>
          <a:ln/>
        </p:spPr>
        <p:txBody>
          <a:bodyPr wrap="square" rtlCol="0" anchor="ctr"/>
          <a:lstStyle/>
          <a:p>
            <a:pPr algn="ctr" indent="0" marL="0">
              <a:buNone/>
            </a:pPr>
            <a:r>
              <a:rPr lang="en-US" sz="1100" b="1" dirty="0">
                <a:solidFill>
                  <a:srgbClr val="FFFFFF"/>
                </a:solidFill>
              </a:rPr>
              <a:t>FP16 MAC Unit</a:t>
            </a:r>
            <a:endParaRPr lang="en-US" sz="1100" dirty="0"/>
          </a:p>
        </p:txBody>
      </p:sp>
      <p:sp>
        <p:nvSpPr>
          <p:cNvPr id="29" name="Shape 27"/>
          <p:cNvSpPr/>
          <p:nvPr/>
        </p:nvSpPr>
        <p:spPr>
          <a:xfrm>
            <a:off x="4572000" y="6035040"/>
            <a:ext cx="0" cy="182880"/>
          </a:xfrm>
          <a:prstGeom prst="line">
            <a:avLst/>
          </a:prstGeom>
          <a:noFill/>
          <a:ln w="38100">
            <a:solidFill>
              <a:srgbClr val="333333"/>
            </a:solidFill>
            <a:prstDash val="solid"/>
            <a:tailEnd type="arrow"/>
          </a:ln>
        </p:spPr>
      </p:sp>
      <p:sp>
        <p:nvSpPr>
          <p:cNvPr id="30" name="Shape 28"/>
          <p:cNvSpPr/>
          <p:nvPr/>
        </p:nvSpPr>
        <p:spPr>
          <a:xfrm>
            <a:off x="2971800" y="6217920"/>
            <a:ext cx="3200400" cy="457200"/>
          </a:xfrm>
          <a:prstGeom prst="rect">
            <a:avLst/>
          </a:prstGeom>
          <a:solidFill>
            <a:srgbClr val="C1272D"/>
          </a:solidFill>
          <a:ln/>
        </p:spPr>
      </p:sp>
      <p:sp>
        <p:nvSpPr>
          <p:cNvPr id="31" name="Text 29"/>
          <p:cNvSpPr/>
          <p:nvPr/>
        </p:nvSpPr>
        <p:spPr>
          <a:xfrm>
            <a:off x="2971800" y="6217920"/>
            <a:ext cx="3200400" cy="457200"/>
          </a:xfrm>
          <a:prstGeom prst="rect">
            <a:avLst/>
          </a:prstGeom>
          <a:noFill/>
          <a:ln/>
        </p:spPr>
        <p:txBody>
          <a:bodyPr wrap="square" rtlCol="0" anchor="ctr"/>
          <a:lstStyle/>
          <a:p>
            <a:pPr algn="ctr" indent="0" marL="0">
              <a:buNone/>
            </a:pPr>
            <a:r>
              <a:rPr lang="en-US" sz="1100" b="1" dirty="0">
                <a:solidFill>
                  <a:srgbClr val="FFFFFF"/>
                </a:solidFill>
              </a:rPr>
              <a:t>CNN Accelerator Output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3200" b="1" dirty="0">
                <a:solidFill>
                  <a:srgbClr val="1E3A5F"/>
                </a:solidFill>
              </a:rPr>
              <a:t>Research Objectives</a:t>
            </a:r>
            <a:endParaRPr lang="en-US" sz="3200" dirty="0"/>
          </a:p>
        </p:txBody>
      </p:sp>
      <p:sp>
        <p:nvSpPr>
          <p:cNvPr id="6" name="Text 4"/>
          <p:cNvSpPr/>
          <p:nvPr/>
        </p:nvSpPr>
        <p:spPr>
          <a:xfrm>
            <a:off x="457200" y="1005840"/>
            <a:ext cx="8229600" cy="3566160"/>
          </a:xfrm>
          <a:prstGeom prst="rect">
            <a:avLst/>
          </a:prstGeom>
          <a:noFill/>
          <a:ln/>
        </p:spPr>
        <p:txBody>
          <a:bodyPr wrap="square" rtlCol="0" anchor="t"/>
          <a:lstStyle/>
          <a:p>
            <a:pPr algn="l" marL="342900" indent="-342900">
              <a:buSzPct val="100000"/>
              <a:buChar char="•"/>
            </a:pPr>
            <a:r>
              <a:rPr lang="en-US" sz="1400" dirty="0">
                <a:solidFill>
                  <a:srgbClr val="333333"/>
                </a:solidFill>
              </a:rPr>
              <a:t>Design an enhanced Radix-8 BPR floating-point multiplier with architectural improvements</a:t>
            </a:r>
            <a:endParaRPr lang="en-US" sz="1400" dirty="0"/>
          </a:p>
          <a:p>
            <a:pPr algn="l" marL="342900" indent="-342900">
              <a:buSzPct val="100000"/>
              <a:buChar char="•"/>
            </a:pPr>
            <a:r>
              <a:rPr lang="en-US" sz="1400" dirty="0">
                <a:solidFill>
                  <a:srgbClr val="333333"/>
                </a:solidFill>
              </a:rPr>
              <a:t>Implement multi-stage pipelined architecture for high-speed computation and improved throughput</a:t>
            </a:r>
            <a:endParaRPr lang="en-US" sz="1400" dirty="0"/>
          </a:p>
          <a:p>
            <a:pPr algn="l" marL="342900" indent="-342900">
              <a:buSzPct val="100000"/>
              <a:buChar char="•"/>
            </a:pPr>
            <a:r>
              <a:rPr lang="en-US" sz="1400" dirty="0">
                <a:solidFill>
                  <a:srgbClr val="333333"/>
                </a:solidFill>
              </a:rPr>
              <a:t>Utilize compressor-based reduction techniques (4:2 compressor, Wallace tree) for lower critical path delay</a:t>
            </a:r>
            <a:endParaRPr lang="en-US" sz="1400" dirty="0"/>
          </a:p>
          <a:p>
            <a:pPr algn="l" marL="342900" indent="-342900">
              <a:buSzPct val="100000"/>
              <a:buChar char="•"/>
            </a:pPr>
            <a:r>
              <a:rPr lang="en-US" sz="1400" dirty="0">
                <a:solidFill>
                  <a:srgbClr val="333333"/>
                </a:solidFill>
              </a:rPr>
              <a:t>Achieve significant reduction in power consumption and hardware area compared to existing BPR multipliers</a:t>
            </a:r>
            <a:endParaRPr lang="en-US" sz="1400" dirty="0"/>
          </a:p>
          <a:p>
            <a:pPr algn="l" marL="342900" indent="-342900">
              <a:buSzPct val="100000"/>
              <a:buChar char="•"/>
            </a:pPr>
            <a:r>
              <a:rPr lang="en-US" sz="1400" dirty="0">
                <a:solidFill>
                  <a:srgbClr val="333333"/>
                </a:solidFill>
              </a:rPr>
              <a:t>Seamlessly integrate the enhanced design into CNN accelerator architecture with FP16 MAC units</a:t>
            </a:r>
            <a:endParaRPr lang="en-US" sz="1400" dirty="0"/>
          </a:p>
          <a:p>
            <a:pPr algn="l" marL="342900" indent="-342900">
              <a:buSzPct val="100000"/>
              <a:buChar char="•"/>
            </a:pPr>
            <a:r>
              <a:rPr lang="en-US" sz="1400" dirty="0">
                <a:solidFill>
                  <a:srgbClr val="333333"/>
                </a:solidFill>
              </a:rPr>
              <a:t>Verify functionality and performance through comprehensive FPGA implementation and ASIC synthesis</a:t>
            </a:r>
            <a:endParaRPr lang="en-US" sz="1400" dirty="0"/>
          </a:p>
          <a:p>
            <a:pPr algn="l" marL="342900" indent="-342900">
              <a:buSzPct val="100000"/>
              <a:buChar char="•"/>
            </a:pPr>
            <a:r>
              <a:rPr lang="en-US" sz="1400" dirty="0">
                <a:solidFill>
                  <a:srgbClr val="333333"/>
                </a:solidFill>
              </a:rPr>
              <a:t>Demonstrate superior energy efficiency (Power-Delay Product) compared to Booth and conventional BPR multipliers</a:t>
            </a:r>
            <a:endParaRPr lang="en-US" sz="1400" dirty="0"/>
          </a:p>
          <a:p>
            <a:pPr algn="l" marL="342900" indent="-342900">
              <a:buSzPct val="100000"/>
              <a:buChar char="•"/>
            </a:pPr>
            <a:r>
              <a:rPr lang="en-US" sz="1400" dirty="0">
                <a:solidFill>
                  <a:srgbClr val="333333"/>
                </a:solidFill>
              </a:rPr>
              <a:t>Validate design robustness across process, voltage, and temperature (PVT) variations</a:t>
            </a:r>
            <a:endParaRPr lang="en-US" sz="1400" dirty="0"/>
          </a:p>
          <a:p>
            <a:pPr algn="l" marL="342900" indent="-342900">
              <a:buSzPct val="100000"/>
              <a:buChar char="•"/>
            </a:pPr>
            <a:r>
              <a:rPr lang="en-US" sz="1400" dirty="0">
                <a:solidFill>
                  <a:srgbClr val="333333"/>
                </a:solidFill>
              </a:rPr>
              <a:t>Optimize the architecture for edge AI processors and embedded neural network accelerators</a:t>
            </a:r>
            <a:endParaRPr lang="en-US" sz="1400" dirty="0"/>
          </a:p>
          <a:p>
            <a:pPr algn="l" marL="342900" indent="-342900">
              <a:buSzPct val="100000"/>
              <a:buChar char="•"/>
            </a:pPr>
            <a:r>
              <a:rPr lang="en-US" sz="1400" dirty="0">
                <a:solidFill>
                  <a:srgbClr val="333333"/>
                </a:solidFill>
              </a:rPr>
              <a:t>Prepare comprehensive IEEE-format research paper for publication in reputed journals/conferences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2800" b="1" dirty="0">
                <a:solidFill>
                  <a:srgbClr val="1E3A5F"/>
                </a:solidFill>
              </a:rPr>
              <a:t>Implementation Methodology</a:t>
            </a:r>
            <a:endParaRPr lang="en-US" sz="2800" dirty="0"/>
          </a:p>
        </p:txBody>
      </p:sp>
      <p:sp>
        <p:nvSpPr>
          <p:cNvPr id="6" name="Text 4"/>
          <p:cNvSpPr/>
          <p:nvPr/>
        </p:nvSpPr>
        <p:spPr>
          <a:xfrm>
            <a:off x="457200" y="1005840"/>
            <a:ext cx="4114800" cy="3566160"/>
          </a:xfrm>
          <a:prstGeom prst="rect">
            <a:avLst/>
          </a:prstGeom>
          <a:noFill/>
          <a:ln/>
        </p:spPr>
        <p:txBody>
          <a:bodyPr wrap="square" rtlCol="0" anchor="t"/>
          <a:lstStyle/>
          <a:p>
            <a:pPr algn="l" indent="0" marL="0">
              <a:buNone/>
            </a:pPr>
            <a:r>
              <a:rPr lang="en-US" sz="1500" b="1" dirty="0">
                <a:solidFill>
                  <a:srgbClr val="1F4788"/>
                </a:solidFill>
              </a:rPr>
              <a:t>Phase 1: Literature Review &amp; Design</a:t>
            </a:r>
            <a:endParaRPr lang="en-US" sz="1300" dirty="0"/>
          </a:p>
          <a:p>
            <a:pPr algn="l" marL="342900" indent="-342900">
              <a:buSzPct val="100000"/>
              <a:buChar char="•"/>
            </a:pPr>
            <a:r>
              <a:rPr lang="en-US" sz="1300" dirty="0">
                <a:solidFill>
                  <a:srgbClr val="333333"/>
                </a:solidFill>
              </a:rPr>
              <a:t>• Comprehensive study of Booth, MBE, and BPR multipliers</a:t>
            </a:r>
            <a:endParaRPr lang="en-US" sz="1300" dirty="0"/>
          </a:p>
          <a:p>
            <a:pPr algn="l" marL="342900" indent="-342900">
              <a:buSzPct val="100000"/>
              <a:buChar char="•"/>
            </a:pPr>
            <a:r>
              <a:rPr lang="en-US" sz="1300" dirty="0">
                <a:solidFill>
                  <a:srgbClr val="333333"/>
                </a:solidFill>
              </a:rPr>
              <a:t>• Design enhanced BPR algorithm and architecture</a:t>
            </a:r>
            <a:endParaRPr lang="en-US" sz="1300" dirty="0"/>
          </a:p>
          <a:p>
            <a:pPr algn="l" marL="342900" indent="-342900">
              <a:buSzPct val="100000"/>
              <a:buChar char="•"/>
            </a:pPr>
            <a:r>
              <a:rPr lang="en-US" sz="1300" dirty="0">
                <a:solidFill>
                  <a:srgbClr val="333333"/>
                </a:solidFill>
              </a:rPr>
              <a:t>• Define pipelining strategy and compressor tree structure</a:t>
            </a:r>
            <a:endParaRPr lang="en-US" sz="1300" dirty="0"/>
          </a:p>
          <a:p>
            <a:pPr algn="l" indent="0" marL="0">
              <a:buNone/>
            </a:pPr>
            <a:r>
              <a:rPr lang="en-US" sz="1500" b="1" dirty="0">
                <a:solidFill>
                  <a:srgbClr val="1F4788"/>
                </a:solidFill>
              </a:rPr>
              <a:t>Phase 2: RTL Design &amp; Simulation</a:t>
            </a:r>
            <a:endParaRPr lang="en-US" sz="1300" dirty="0"/>
          </a:p>
          <a:p>
            <a:pPr algn="l" marL="342900" indent="-342900">
              <a:buSzPct val="100000"/>
              <a:buChar char="•"/>
            </a:pPr>
            <a:r>
              <a:rPr lang="en-US" sz="1300" dirty="0">
                <a:solidFill>
                  <a:srgbClr val="333333"/>
                </a:solidFill>
              </a:rPr>
              <a:t>• Implement modules in Verilog HDL:</a:t>
            </a:r>
            <a:endParaRPr lang="en-US" sz="1300" dirty="0"/>
          </a:p>
          <a:p>
            <a:pPr algn="l" lvl="1" indent="0" marL="0">
              <a:buNone/>
            </a:pPr>
            <a:r>
              <a:rPr lang="en-US" sz="1200" dirty="0">
                <a:solidFill>
                  <a:srgbClr val="333333"/>
                </a:solidFill>
              </a:rPr>
              <a:t>  - bpr_recoder.v, pp_generator.v, compressor_tree.v</a:t>
            </a:r>
            <a:endParaRPr lang="en-US" sz="1300" dirty="0"/>
          </a:p>
          <a:p>
            <a:pPr algn="l" lvl="1" indent="0" marL="0">
              <a:buNone/>
            </a:pPr>
            <a:r>
              <a:rPr lang="en-US" sz="1200" dirty="0">
                <a:solidFill>
                  <a:srgbClr val="333333"/>
                </a:solidFill>
              </a:rPr>
              <a:t>  - pipeline_stage.v, final_adder.v, fp16_mac.v</a:t>
            </a:r>
            <a:endParaRPr lang="en-US" sz="1300" dirty="0"/>
          </a:p>
          <a:p>
            <a:pPr algn="l" lvl="1" indent="0" marL="0">
              <a:buNone/>
            </a:pPr>
            <a:r>
              <a:rPr lang="en-US" sz="1200" dirty="0">
                <a:solidFill>
                  <a:srgbClr val="333333"/>
                </a:solidFill>
              </a:rPr>
              <a:t>  - top_multiplier.v (complete integration)</a:t>
            </a:r>
            <a:endParaRPr lang="en-US" sz="1300" dirty="0"/>
          </a:p>
          <a:p>
            <a:pPr algn="l" marL="342900" indent="-342900">
              <a:buSzPct val="100000"/>
              <a:buChar char="•"/>
            </a:pPr>
            <a:r>
              <a:rPr lang="en-US" sz="1300" dirty="0">
                <a:solidFill>
                  <a:srgbClr val="333333"/>
                </a:solidFill>
              </a:rPr>
              <a:t>• Comprehensive simulation using ModelSim/Vivado</a:t>
            </a:r>
            <a:endParaRPr lang="en-US" sz="1300" dirty="0"/>
          </a:p>
          <a:p>
            <a:pPr algn="l" marL="342900" indent="-342900">
              <a:buSzPct val="100000"/>
              <a:buChar char="•"/>
            </a:pPr>
            <a:r>
              <a:rPr lang="en-US" sz="1300" dirty="0">
                <a:solidFill>
                  <a:srgbClr val="333333"/>
                </a:solidFill>
              </a:rPr>
              <a:t>• Functional verification with extensive test vectors</a:t>
            </a:r>
            <a:endParaRPr lang="en-US" sz="1300" dirty="0"/>
          </a:p>
        </p:txBody>
      </p:sp>
      <p:sp>
        <p:nvSpPr>
          <p:cNvPr id="7" name="Text 5"/>
          <p:cNvSpPr/>
          <p:nvPr/>
        </p:nvSpPr>
        <p:spPr>
          <a:xfrm>
            <a:off x="4572000" y="1005840"/>
            <a:ext cx="4114800" cy="3566160"/>
          </a:xfrm>
          <a:prstGeom prst="rect">
            <a:avLst/>
          </a:prstGeom>
          <a:noFill/>
          <a:ln/>
        </p:spPr>
        <p:txBody>
          <a:bodyPr wrap="square" rtlCol="0" anchor="t"/>
          <a:lstStyle/>
          <a:p>
            <a:pPr algn="l" indent="0" marL="0">
              <a:buNone/>
            </a:pPr>
            <a:r>
              <a:rPr lang="en-US" sz="1500" b="1" dirty="0">
                <a:solidFill>
                  <a:srgbClr val="1F4788"/>
                </a:solidFill>
              </a:rPr>
              <a:t>Phase 3: FPGA Implementation</a:t>
            </a:r>
            <a:endParaRPr lang="en-US" sz="1300" dirty="0"/>
          </a:p>
          <a:p>
            <a:pPr algn="l" marL="342900" indent="-342900">
              <a:buSzPct val="100000"/>
              <a:buChar char="•"/>
            </a:pPr>
            <a:r>
              <a:rPr lang="en-US" sz="1300" dirty="0">
                <a:solidFill>
                  <a:srgbClr val="333333"/>
                </a:solidFill>
              </a:rPr>
              <a:t>• Synthesize design using Xilinx Vivado</a:t>
            </a:r>
            <a:endParaRPr lang="en-US" sz="1300" dirty="0"/>
          </a:p>
          <a:p>
            <a:pPr algn="l" marL="342900" indent="-342900">
              <a:buSzPct val="100000"/>
              <a:buChar char="•"/>
            </a:pPr>
            <a:r>
              <a:rPr lang="en-US" sz="1300" dirty="0">
                <a:solidFill>
                  <a:srgbClr val="333333"/>
                </a:solidFill>
              </a:rPr>
              <a:t>• Implement on FPGA platform</a:t>
            </a:r>
            <a:endParaRPr lang="en-US" sz="1300" dirty="0"/>
          </a:p>
          <a:p>
            <a:pPr algn="l" marL="342900" indent="-342900">
              <a:buSzPct val="100000"/>
              <a:buChar char="•"/>
            </a:pPr>
            <a:r>
              <a:rPr lang="en-US" sz="1300" dirty="0">
                <a:solidFill>
                  <a:srgbClr val="333333"/>
                </a:solidFill>
              </a:rPr>
              <a:t>• Perform timing analysis and optimization</a:t>
            </a:r>
            <a:endParaRPr lang="en-US" sz="1300" dirty="0"/>
          </a:p>
          <a:p>
            <a:pPr algn="l" indent="0" marL="0">
              <a:buNone/>
            </a:pPr>
            <a:r>
              <a:rPr lang="en-US" sz="1500" b="1" dirty="0">
                <a:solidFill>
                  <a:srgbClr val="1F4788"/>
                </a:solidFill>
              </a:rPr>
              <a:t>Phase 4: ASIC Synthesis &amp; Evaluation</a:t>
            </a:r>
            <a:endParaRPr lang="en-US" sz="1300" dirty="0"/>
          </a:p>
          <a:p>
            <a:pPr algn="l" marL="342900" indent="-342900">
              <a:buSzPct val="100000"/>
              <a:buChar char="•"/>
            </a:pPr>
            <a:r>
              <a:rPr lang="en-US" sz="1300" dirty="0">
                <a:solidFill>
                  <a:srgbClr val="333333"/>
                </a:solidFill>
              </a:rPr>
              <a:t>• ASIC synthesis using Cadence Genus / Synopsys Design Compiler</a:t>
            </a:r>
            <a:endParaRPr lang="en-US" sz="1300" dirty="0"/>
          </a:p>
          <a:p>
            <a:pPr algn="l" marL="342900" indent="-342900">
              <a:buSzPct val="100000"/>
              <a:buChar char="•"/>
            </a:pPr>
            <a:r>
              <a:rPr lang="en-US" sz="1300" dirty="0">
                <a:solidFill>
                  <a:srgbClr val="333333"/>
                </a:solidFill>
              </a:rPr>
              <a:t>• Technology: TSMC 65nm standard cell library</a:t>
            </a:r>
            <a:endParaRPr lang="en-US" sz="1300" dirty="0"/>
          </a:p>
          <a:p>
            <a:pPr algn="l" marL="342900" indent="-342900">
              <a:buSzPct val="100000"/>
              <a:buChar char="•"/>
            </a:pPr>
            <a:r>
              <a:rPr lang="en-US" sz="1300" dirty="0">
                <a:solidFill>
                  <a:srgbClr val="333333"/>
                </a:solidFill>
              </a:rPr>
              <a:t>• Evaluate: Area, Power, Delay, Throughput</a:t>
            </a:r>
            <a:endParaRPr lang="en-US" sz="1300" dirty="0"/>
          </a:p>
          <a:p>
            <a:pPr algn="l" indent="0" marL="0">
              <a:buNone/>
            </a:pPr>
            <a:r>
              <a:rPr lang="en-US" sz="1500" b="1" dirty="0">
                <a:solidFill>
                  <a:srgbClr val="1F4788"/>
                </a:solidFill>
              </a:rPr>
              <a:t>Phase 5: Integration &amp; Publication</a:t>
            </a:r>
            <a:endParaRPr lang="en-US" sz="1300" dirty="0"/>
          </a:p>
          <a:p>
            <a:pPr algn="l" marL="342900" indent="-342900">
              <a:buSzPct val="100000"/>
              <a:buChar char="•"/>
            </a:pPr>
            <a:r>
              <a:rPr lang="en-US" sz="1300" dirty="0">
                <a:solidFill>
                  <a:srgbClr val="333333"/>
                </a:solidFill>
              </a:rPr>
              <a:t>• Integrate with CNN MAC unit</a:t>
            </a:r>
            <a:endParaRPr lang="en-US" sz="1300" dirty="0"/>
          </a:p>
          <a:p>
            <a:pPr algn="l" marL="342900" indent="-342900">
              <a:buSzPct val="100000"/>
              <a:buChar char="•"/>
            </a:pPr>
            <a:r>
              <a:rPr lang="en-US" sz="1300" dirty="0">
                <a:solidFill>
                  <a:srgbClr val="333333"/>
                </a:solidFill>
              </a:rPr>
              <a:t>• Compare with Booth and base BPR multipliers</a:t>
            </a:r>
            <a:endParaRPr lang="en-US" sz="1300" dirty="0"/>
          </a:p>
          <a:p>
            <a:pPr algn="l" marL="342900" indent="-342900">
              <a:buSzPct val="100000"/>
              <a:buChar char="•"/>
            </a:pPr>
            <a:r>
              <a:rPr lang="en-US" sz="1300" dirty="0">
                <a:solidFill>
                  <a:srgbClr val="333333"/>
                </a:solidFill>
              </a:rPr>
              <a:t>• Prepare IEEE-format research paper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2800" b="1" dirty="0">
                <a:solidFill>
                  <a:srgbClr val="1E3A5F"/>
                </a:solidFill>
              </a:rPr>
              <a:t>Enhanced BPR Multiplier - Block Diagram</a:t>
            </a:r>
            <a:endParaRPr lang="en-US" sz="2800" dirty="0"/>
          </a:p>
        </p:txBody>
      </p:sp>
      <p:sp>
        <p:nvSpPr>
          <p:cNvPr id="6" name="Shape 4"/>
          <p:cNvSpPr/>
          <p:nvPr/>
        </p:nvSpPr>
        <p:spPr>
          <a:xfrm>
            <a:off x="731520" y="1097280"/>
            <a:ext cx="7680960" cy="3383280"/>
          </a:xfrm>
          <a:prstGeom prst="rect">
            <a:avLst/>
          </a:prstGeom>
          <a:solidFill>
            <a:srgbClr val="FFFFFF"/>
          </a:solidFill>
          <a:ln w="25400">
            <a:solidFill>
              <a:srgbClr val="1E3A5F"/>
            </a:solidFill>
            <a:prstDash val="solid"/>
          </a:ln>
        </p:spPr>
      </p:sp>
      <p:sp>
        <p:nvSpPr>
          <p:cNvPr id="7" name="Text 5"/>
          <p:cNvSpPr/>
          <p:nvPr/>
        </p:nvSpPr>
        <p:spPr>
          <a:xfrm>
            <a:off x="731520" y="1188720"/>
            <a:ext cx="7680960" cy="365760"/>
          </a:xfrm>
          <a:prstGeom prst="rect">
            <a:avLst/>
          </a:prstGeom>
          <a:solidFill>
            <a:srgbClr val="1E3A5F"/>
          </a:solidFill>
          <a:ln/>
        </p:spPr>
        <p:txBody>
          <a:bodyPr wrap="square" rtlCol="0" anchor="ctr"/>
          <a:lstStyle/>
          <a:p>
            <a:pPr algn="ctr" indent="0" marL="0">
              <a:buNone/>
            </a:pPr>
            <a:r>
              <a:rPr lang="en-US" sz="1400" b="1" dirty="0">
                <a:solidFill>
                  <a:srgbClr val="FFFFFF"/>
                </a:solidFill>
              </a:rPr>
              <a:t>Enhanced Radix-8 BPR Multiplier Core</a:t>
            </a:r>
            <a:endParaRPr lang="en-US" sz="1400" dirty="0"/>
          </a:p>
        </p:txBody>
      </p:sp>
      <p:sp>
        <p:nvSpPr>
          <p:cNvPr id="8" name="Shape 6"/>
          <p:cNvSpPr/>
          <p:nvPr/>
        </p:nvSpPr>
        <p:spPr>
          <a:xfrm>
            <a:off x="1097280" y="1737360"/>
            <a:ext cx="1645920" cy="457200"/>
          </a:xfrm>
          <a:prstGeom prst="rect">
            <a:avLst/>
          </a:prstGeom>
          <a:solidFill>
            <a:srgbClr val="C1272D"/>
          </a:solidFill>
          <a:ln/>
        </p:spPr>
      </p:sp>
      <p:sp>
        <p:nvSpPr>
          <p:cNvPr id="9" name="Text 7"/>
          <p:cNvSpPr/>
          <p:nvPr/>
        </p:nvSpPr>
        <p:spPr>
          <a:xfrm>
            <a:off x="1097280" y="1737360"/>
            <a:ext cx="1645920" cy="457200"/>
          </a:xfrm>
          <a:prstGeom prst="rect">
            <a:avLst/>
          </a:prstGeom>
          <a:noFill/>
          <a:ln/>
        </p:spPr>
        <p:txBody>
          <a:bodyPr wrap="square" rtlCol="0" anchor="ctr"/>
          <a:lstStyle/>
          <a:p>
            <a:pPr algn="ctr" indent="0" marL="0">
              <a:buNone/>
            </a:pPr>
            <a:r>
              <a:rPr lang="en-US" sz="1100" b="1" dirty="0">
                <a:solidFill>
                  <a:srgbClr val="FFFFFF"/>
                </a:solidFill>
              </a:rPr>
              <a:t>Inputs</a:t>
            </a:r>
            <a:endParaRPr lang="en-US" sz="1100" dirty="0"/>
          </a:p>
          <a:p>
            <a:pPr algn="ctr" indent="0" marL="0">
              <a:buNone/>
            </a:pPr>
            <a:r>
              <a:rPr lang="en-US" sz="1100" b="1" dirty="0">
                <a:solidFill>
                  <a:srgbClr val="FFFFFF"/>
                </a:solidFill>
              </a:rPr>
              <a:t>(X, Y)</a:t>
            </a:r>
            <a:endParaRPr lang="en-US" sz="1100" dirty="0"/>
          </a:p>
        </p:txBody>
      </p:sp>
      <p:sp>
        <p:nvSpPr>
          <p:cNvPr id="10" name="Shape 8"/>
          <p:cNvSpPr/>
          <p:nvPr/>
        </p:nvSpPr>
        <p:spPr>
          <a:xfrm>
            <a:off x="3108960" y="1737360"/>
            <a:ext cx="1828800" cy="457200"/>
          </a:xfrm>
          <a:prstGeom prst="rect">
            <a:avLst/>
          </a:prstGeom>
          <a:solidFill>
            <a:srgbClr val="1F4788"/>
          </a:solidFill>
          <a:ln/>
        </p:spPr>
      </p:sp>
      <p:sp>
        <p:nvSpPr>
          <p:cNvPr id="11" name="Text 9"/>
          <p:cNvSpPr/>
          <p:nvPr/>
        </p:nvSpPr>
        <p:spPr>
          <a:xfrm>
            <a:off x="3108960" y="1737360"/>
            <a:ext cx="1828800" cy="457200"/>
          </a:xfrm>
          <a:prstGeom prst="rect">
            <a:avLst/>
          </a:prstGeom>
          <a:noFill/>
          <a:ln/>
        </p:spPr>
        <p:txBody>
          <a:bodyPr wrap="square" rtlCol="0" anchor="ctr"/>
          <a:lstStyle/>
          <a:p>
            <a:pPr algn="ctr" indent="0" marL="0">
              <a:buNone/>
            </a:pPr>
            <a:r>
              <a:rPr lang="en-US" sz="1100" b="1" dirty="0">
                <a:solidFill>
                  <a:srgbClr val="FFFFFF"/>
                </a:solidFill>
              </a:rPr>
              <a:t>BPR</a:t>
            </a:r>
            <a:endParaRPr lang="en-US" sz="1100" dirty="0"/>
          </a:p>
          <a:p>
            <a:pPr algn="ctr" indent="0" marL="0">
              <a:buNone/>
            </a:pPr>
            <a:r>
              <a:rPr lang="en-US" sz="1100" b="1" dirty="0">
                <a:solidFill>
                  <a:srgbClr val="FFFFFF"/>
                </a:solidFill>
              </a:rPr>
              <a:t>Recoder</a:t>
            </a:r>
            <a:endParaRPr lang="en-US" sz="1100" dirty="0"/>
          </a:p>
        </p:txBody>
      </p:sp>
      <p:sp>
        <p:nvSpPr>
          <p:cNvPr id="12" name="Shape 10"/>
          <p:cNvSpPr/>
          <p:nvPr/>
        </p:nvSpPr>
        <p:spPr>
          <a:xfrm>
            <a:off x="5303520" y="1737360"/>
            <a:ext cx="1828800" cy="457200"/>
          </a:xfrm>
          <a:prstGeom prst="rect">
            <a:avLst/>
          </a:prstGeom>
          <a:solidFill>
            <a:srgbClr val="1F4788"/>
          </a:solidFill>
          <a:ln/>
        </p:spPr>
      </p:sp>
      <p:sp>
        <p:nvSpPr>
          <p:cNvPr id="13" name="Text 11"/>
          <p:cNvSpPr/>
          <p:nvPr/>
        </p:nvSpPr>
        <p:spPr>
          <a:xfrm>
            <a:off x="5303520" y="1737360"/>
            <a:ext cx="1828800" cy="457200"/>
          </a:xfrm>
          <a:prstGeom prst="rect">
            <a:avLst/>
          </a:prstGeom>
          <a:noFill/>
          <a:ln/>
        </p:spPr>
        <p:txBody>
          <a:bodyPr wrap="square" rtlCol="0" anchor="ctr"/>
          <a:lstStyle/>
          <a:p>
            <a:pPr algn="ctr" indent="0" marL="0">
              <a:buNone/>
            </a:pPr>
            <a:r>
              <a:rPr lang="en-US" sz="1100" b="1" dirty="0">
                <a:solidFill>
                  <a:srgbClr val="FFFFFF"/>
                </a:solidFill>
              </a:rPr>
              <a:t>PP</a:t>
            </a:r>
            <a:endParaRPr lang="en-US" sz="1100" dirty="0"/>
          </a:p>
          <a:p>
            <a:pPr algn="ctr" indent="0" marL="0">
              <a:buNone/>
            </a:pPr>
            <a:r>
              <a:rPr lang="en-US" sz="1100" b="1" dirty="0">
                <a:solidFill>
                  <a:srgbClr val="FFFFFF"/>
                </a:solidFill>
              </a:rPr>
              <a:t>Generator</a:t>
            </a:r>
            <a:endParaRPr lang="en-US" sz="1100" dirty="0"/>
          </a:p>
        </p:txBody>
      </p:sp>
      <p:sp>
        <p:nvSpPr>
          <p:cNvPr id="14" name="Shape 12"/>
          <p:cNvSpPr/>
          <p:nvPr/>
        </p:nvSpPr>
        <p:spPr>
          <a:xfrm>
            <a:off x="1097280" y="2377440"/>
            <a:ext cx="3017520" cy="548640"/>
          </a:xfrm>
          <a:prstGeom prst="rect">
            <a:avLst/>
          </a:prstGeom>
          <a:solidFill>
            <a:srgbClr val="1E3A5F"/>
          </a:solidFill>
          <a:ln/>
        </p:spPr>
      </p:sp>
      <p:sp>
        <p:nvSpPr>
          <p:cNvPr id="15" name="Text 13"/>
          <p:cNvSpPr/>
          <p:nvPr/>
        </p:nvSpPr>
        <p:spPr>
          <a:xfrm>
            <a:off x="1097280" y="2377440"/>
            <a:ext cx="3017520" cy="548640"/>
          </a:xfrm>
          <a:prstGeom prst="rect">
            <a:avLst/>
          </a:prstGeom>
          <a:noFill/>
          <a:ln/>
        </p:spPr>
        <p:txBody>
          <a:bodyPr wrap="square" rtlCol="0" anchor="ctr"/>
          <a:lstStyle/>
          <a:p>
            <a:pPr algn="ctr" indent="0" marL="0">
              <a:buNone/>
            </a:pPr>
            <a:r>
              <a:rPr lang="en-US" sz="1200" b="1" dirty="0">
                <a:solidFill>
                  <a:srgbClr val="FFFFFF"/>
                </a:solidFill>
              </a:rPr>
              <a:t>4:2 Compressor Wallace Tree</a:t>
            </a:r>
            <a:endParaRPr lang="en-US" sz="1200" dirty="0"/>
          </a:p>
        </p:txBody>
      </p:sp>
      <p:sp>
        <p:nvSpPr>
          <p:cNvPr id="16" name="Shape 14"/>
          <p:cNvSpPr/>
          <p:nvPr/>
        </p:nvSpPr>
        <p:spPr>
          <a:xfrm>
            <a:off x="4389120" y="2377440"/>
            <a:ext cx="2743200" cy="548640"/>
          </a:xfrm>
          <a:prstGeom prst="rect">
            <a:avLst/>
          </a:prstGeom>
          <a:solidFill>
            <a:srgbClr val="C1272D"/>
          </a:solidFill>
          <a:ln/>
        </p:spPr>
      </p:sp>
      <p:sp>
        <p:nvSpPr>
          <p:cNvPr id="17" name="Text 15"/>
          <p:cNvSpPr/>
          <p:nvPr/>
        </p:nvSpPr>
        <p:spPr>
          <a:xfrm>
            <a:off x="4389120" y="2377440"/>
            <a:ext cx="2743200" cy="548640"/>
          </a:xfrm>
          <a:prstGeom prst="rect">
            <a:avLst/>
          </a:prstGeom>
          <a:noFill/>
          <a:ln/>
        </p:spPr>
        <p:txBody>
          <a:bodyPr wrap="square" rtlCol="0" anchor="ctr"/>
          <a:lstStyle/>
          <a:p>
            <a:pPr algn="ctr" indent="0" marL="0">
              <a:buNone/>
            </a:pPr>
            <a:r>
              <a:rPr lang="en-US" sz="1200" b="1" dirty="0">
                <a:solidFill>
                  <a:srgbClr val="FFFFFF"/>
                </a:solidFill>
              </a:rPr>
              <a:t>Pipeline Registers</a:t>
            </a:r>
            <a:endParaRPr lang="en-US" sz="1200" dirty="0"/>
          </a:p>
        </p:txBody>
      </p:sp>
      <p:sp>
        <p:nvSpPr>
          <p:cNvPr id="18" name="Shape 16"/>
          <p:cNvSpPr/>
          <p:nvPr/>
        </p:nvSpPr>
        <p:spPr>
          <a:xfrm>
            <a:off x="1097280" y="3108960"/>
            <a:ext cx="3017520" cy="548640"/>
          </a:xfrm>
          <a:prstGeom prst="rect">
            <a:avLst/>
          </a:prstGeom>
          <a:solidFill>
            <a:srgbClr val="1F4788"/>
          </a:solidFill>
          <a:ln/>
        </p:spPr>
      </p:sp>
      <p:sp>
        <p:nvSpPr>
          <p:cNvPr id="19" name="Text 17"/>
          <p:cNvSpPr/>
          <p:nvPr/>
        </p:nvSpPr>
        <p:spPr>
          <a:xfrm>
            <a:off x="1097280" y="3108960"/>
            <a:ext cx="3017520" cy="548640"/>
          </a:xfrm>
          <a:prstGeom prst="rect">
            <a:avLst/>
          </a:prstGeom>
          <a:noFill/>
          <a:ln/>
        </p:spPr>
        <p:txBody>
          <a:bodyPr wrap="square" rtlCol="0" anchor="ctr"/>
          <a:lstStyle/>
          <a:p>
            <a:pPr algn="ctr" indent="0" marL="0">
              <a:buNone/>
            </a:pPr>
            <a:r>
              <a:rPr lang="en-US" sz="1200" b="1" dirty="0">
                <a:solidFill>
                  <a:srgbClr val="FFFFFF"/>
                </a:solidFill>
              </a:rPr>
              <a:t>Carry Propagate Adder</a:t>
            </a:r>
            <a:endParaRPr lang="en-US" sz="1200" dirty="0"/>
          </a:p>
        </p:txBody>
      </p:sp>
      <p:sp>
        <p:nvSpPr>
          <p:cNvPr id="20" name="Shape 18"/>
          <p:cNvSpPr/>
          <p:nvPr/>
        </p:nvSpPr>
        <p:spPr>
          <a:xfrm>
            <a:off x="4389120" y="3108960"/>
            <a:ext cx="2743200" cy="548640"/>
          </a:xfrm>
          <a:prstGeom prst="rect">
            <a:avLst/>
          </a:prstGeom>
          <a:solidFill>
            <a:srgbClr val="1E3A5F"/>
          </a:solidFill>
          <a:ln/>
        </p:spPr>
      </p:sp>
      <p:sp>
        <p:nvSpPr>
          <p:cNvPr id="21" name="Text 19"/>
          <p:cNvSpPr/>
          <p:nvPr/>
        </p:nvSpPr>
        <p:spPr>
          <a:xfrm>
            <a:off x="4389120" y="3108960"/>
            <a:ext cx="2743200" cy="548640"/>
          </a:xfrm>
          <a:prstGeom prst="rect">
            <a:avLst/>
          </a:prstGeom>
          <a:noFill/>
          <a:ln/>
        </p:spPr>
        <p:txBody>
          <a:bodyPr wrap="square" rtlCol="0" anchor="ctr"/>
          <a:lstStyle/>
          <a:p>
            <a:pPr algn="ctr" indent="0" marL="0">
              <a:buNone/>
            </a:pPr>
            <a:r>
              <a:rPr lang="en-US" sz="1200" b="1" dirty="0">
                <a:solidFill>
                  <a:srgbClr val="FFFFFF"/>
                </a:solidFill>
              </a:rPr>
              <a:t>FP16 MAC Unit</a:t>
            </a:r>
            <a:endParaRPr lang="en-US" sz="1200" dirty="0"/>
          </a:p>
        </p:txBody>
      </p:sp>
      <p:sp>
        <p:nvSpPr>
          <p:cNvPr id="22" name="Shape 20"/>
          <p:cNvSpPr/>
          <p:nvPr/>
        </p:nvSpPr>
        <p:spPr>
          <a:xfrm>
            <a:off x="3200400" y="3840480"/>
            <a:ext cx="2011680" cy="457200"/>
          </a:xfrm>
          <a:prstGeom prst="rect">
            <a:avLst/>
          </a:prstGeom>
          <a:solidFill>
            <a:srgbClr val="C1272D"/>
          </a:solidFill>
          <a:ln/>
        </p:spPr>
      </p:sp>
      <p:sp>
        <p:nvSpPr>
          <p:cNvPr id="23" name="Text 21"/>
          <p:cNvSpPr/>
          <p:nvPr/>
        </p:nvSpPr>
        <p:spPr>
          <a:xfrm>
            <a:off x="3200400" y="3840480"/>
            <a:ext cx="2011680" cy="457200"/>
          </a:xfrm>
          <a:prstGeom prst="rect">
            <a:avLst/>
          </a:prstGeom>
          <a:noFill/>
          <a:ln/>
        </p:spPr>
        <p:txBody>
          <a:bodyPr wrap="square" rtlCol="0" anchor="ctr"/>
          <a:lstStyle/>
          <a:p>
            <a:pPr algn="ctr" indent="0" marL="0">
              <a:buNone/>
            </a:pPr>
            <a:r>
              <a:rPr lang="en-US" sz="1100" b="1" dirty="0">
                <a:solidFill>
                  <a:srgbClr val="FFFFFF"/>
                </a:solidFill>
              </a:rPr>
              <a:t>CNN Accelerator</a:t>
            </a:r>
            <a:endParaRPr lang="en-US" sz="1100" dirty="0"/>
          </a:p>
          <a:p>
            <a:pPr algn="ctr" indent="0" marL="0">
              <a:buNone/>
            </a:pPr>
            <a:r>
              <a:rPr lang="en-US" sz="1100" b="1" dirty="0">
                <a:solidFill>
                  <a:srgbClr val="FFFFFF"/>
                </a:solidFill>
              </a:rPr>
              <a:t>Output</a:t>
            </a:r>
            <a:endParaRPr lang="en-US" sz="1100" dirty="0"/>
          </a:p>
        </p:txBody>
      </p:sp>
      <p:sp>
        <p:nvSpPr>
          <p:cNvPr id="24" name="Shape 22"/>
          <p:cNvSpPr/>
          <p:nvPr/>
        </p:nvSpPr>
        <p:spPr>
          <a:xfrm>
            <a:off x="2743200" y="1965960"/>
            <a:ext cx="365760" cy="0"/>
          </a:xfrm>
          <a:prstGeom prst="line">
            <a:avLst/>
          </a:prstGeom>
          <a:noFill/>
          <a:ln w="25400">
            <a:solidFill>
              <a:srgbClr val="333333"/>
            </a:solidFill>
            <a:prstDash val="solid"/>
            <a:tailEnd type="arrow"/>
          </a:ln>
        </p:spPr>
      </p:sp>
      <p:sp>
        <p:nvSpPr>
          <p:cNvPr id="25" name="Shape 23"/>
          <p:cNvSpPr/>
          <p:nvPr/>
        </p:nvSpPr>
        <p:spPr>
          <a:xfrm>
            <a:off x="4937760" y="1965960"/>
            <a:ext cx="365760" cy="0"/>
          </a:xfrm>
          <a:prstGeom prst="line">
            <a:avLst/>
          </a:prstGeom>
          <a:noFill/>
          <a:ln w="25400">
            <a:solidFill>
              <a:srgbClr val="333333"/>
            </a:solidFill>
            <a:prstDash val="solid"/>
            <a:tailEnd type="arrow"/>
          </a:ln>
        </p:spPr>
      </p:sp>
      <p:sp>
        <p:nvSpPr>
          <p:cNvPr id="26" name="Shape 24"/>
          <p:cNvSpPr/>
          <p:nvPr/>
        </p:nvSpPr>
        <p:spPr>
          <a:xfrm>
            <a:off x="2560320" y="2194560"/>
            <a:ext cx="0" cy="182880"/>
          </a:xfrm>
          <a:prstGeom prst="line">
            <a:avLst/>
          </a:prstGeom>
          <a:noFill/>
          <a:ln w="25400">
            <a:solidFill>
              <a:srgbClr val="333333"/>
            </a:solidFill>
            <a:prstDash val="solid"/>
            <a:tailEnd type="arrow"/>
          </a:ln>
        </p:spPr>
      </p:sp>
      <p:sp>
        <p:nvSpPr>
          <p:cNvPr id="27" name="Shape 25"/>
          <p:cNvSpPr/>
          <p:nvPr/>
        </p:nvSpPr>
        <p:spPr>
          <a:xfrm>
            <a:off x="5760720" y="2194560"/>
            <a:ext cx="0" cy="182880"/>
          </a:xfrm>
          <a:prstGeom prst="line">
            <a:avLst/>
          </a:prstGeom>
          <a:noFill/>
          <a:ln w="25400">
            <a:solidFill>
              <a:srgbClr val="333333"/>
            </a:solidFill>
            <a:prstDash val="solid"/>
            <a:tailEnd type="arrow"/>
          </a:ln>
        </p:spPr>
      </p:sp>
      <p:sp>
        <p:nvSpPr>
          <p:cNvPr id="28" name="Shape 26"/>
          <p:cNvSpPr/>
          <p:nvPr/>
        </p:nvSpPr>
        <p:spPr>
          <a:xfrm>
            <a:off x="2560320" y="2926080"/>
            <a:ext cx="0" cy="182880"/>
          </a:xfrm>
          <a:prstGeom prst="line">
            <a:avLst/>
          </a:prstGeom>
          <a:noFill/>
          <a:ln w="25400">
            <a:solidFill>
              <a:srgbClr val="333333"/>
            </a:solidFill>
            <a:prstDash val="solid"/>
            <a:tailEnd type="arrow"/>
          </a:ln>
        </p:spPr>
      </p:sp>
      <p:sp>
        <p:nvSpPr>
          <p:cNvPr id="29" name="Shape 27"/>
          <p:cNvSpPr/>
          <p:nvPr/>
        </p:nvSpPr>
        <p:spPr>
          <a:xfrm>
            <a:off x="5760720" y="2926080"/>
            <a:ext cx="0" cy="182880"/>
          </a:xfrm>
          <a:prstGeom prst="line">
            <a:avLst/>
          </a:prstGeom>
          <a:noFill/>
          <a:ln w="25400">
            <a:solidFill>
              <a:srgbClr val="333333"/>
            </a:solidFill>
            <a:prstDash val="solid"/>
            <a:tailEnd type="arrow"/>
          </a:ln>
        </p:spPr>
      </p:sp>
      <p:sp>
        <p:nvSpPr>
          <p:cNvPr id="30" name="Shape 28"/>
          <p:cNvSpPr/>
          <p:nvPr/>
        </p:nvSpPr>
        <p:spPr>
          <a:xfrm>
            <a:off x="4114800" y="3383280"/>
            <a:ext cx="0" cy="457200"/>
          </a:xfrm>
          <a:prstGeom prst="line">
            <a:avLst/>
          </a:prstGeom>
          <a:noFill/>
          <a:ln w="25400">
            <a:solidFill>
              <a:srgbClr val="333333"/>
            </a:solidFill>
            <a:prstDash val="solid"/>
            <a:tailEnd type="arrow"/>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2800" b="1" dirty="0">
                <a:solidFill>
                  <a:srgbClr val="1E3A5F"/>
                </a:solidFill>
              </a:rPr>
              <a:t>Expected Performance Comparison</a:t>
            </a:r>
            <a:endParaRPr lang="en-US" sz="2800" dirty="0"/>
          </a:p>
        </p:txBody>
      </p:sp>
      <p:graphicFrame>
        <p:nvGraphicFramePr>
          <p:cNvPr id="6" name="Chart 0" descr=""/>
          <p:cNvGraphicFramePr/>
          <p:nvPr/>
        </p:nvGraphicFramePr>
        <p:xfrm>
          <a:off x="457200" y="1097280"/>
          <a:ext cx="82296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480560"/>
            <a:ext cx="8229600" cy="365760"/>
          </a:xfrm>
          <a:prstGeom prst="rect">
            <a:avLst/>
          </a:prstGeom>
          <a:noFill/>
          <a:ln/>
        </p:spPr>
        <p:txBody>
          <a:bodyPr wrap="square" rtlCol="0" anchor="ctr"/>
          <a:lstStyle/>
          <a:p>
            <a:pPr algn="ctr" indent="0" marL="0">
              <a:buNone/>
            </a:pPr>
            <a:r>
              <a:rPr lang="en-US" sz="1000" i="1" dirty="0">
                <a:solidFill>
                  <a:srgbClr val="666666"/>
                </a:solidFill>
              </a:rPr>
              <a:t>* Values are normalized percentages relative to Booth multiplier baseline</a:t>
            </a:r>
            <a:endParaRPr lang="en-US" sz="1000" dirty="0"/>
          </a:p>
          <a:p>
            <a:pPr algn="ctr" indent="0" marL="0">
              <a:buNone/>
            </a:pPr>
            <a:r>
              <a:rPr lang="en-US" sz="1000" i="1" dirty="0">
                <a:solidFill>
                  <a:srgbClr val="666666"/>
                </a:solidFill>
              </a:rPr>
              <a:t>** Actual metrics will be obtained from ASIC synthesis results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3200" b="1" dirty="0">
                <a:solidFill>
                  <a:srgbClr val="1E3A5F"/>
                </a:solidFill>
              </a:rPr>
              <a:t>Tools &amp; Technologies</a:t>
            </a:r>
            <a:endParaRPr lang="en-US" sz="3200" dirty="0"/>
          </a:p>
        </p:txBody>
      </p:sp>
      <p:sp>
        <p:nvSpPr>
          <p:cNvPr id="6" name="Shape 4"/>
          <p:cNvSpPr/>
          <p:nvPr/>
        </p:nvSpPr>
        <p:spPr>
          <a:xfrm>
            <a:off x="457200" y="1005840"/>
            <a:ext cx="3931920" cy="1645920"/>
          </a:xfrm>
          <a:prstGeom prst="rect">
            <a:avLst/>
          </a:prstGeom>
          <a:solidFill>
            <a:srgbClr val="FFFFFF"/>
          </a:solidFill>
          <a:ln w="25400">
            <a:solidFill>
              <a:srgbClr val="1F4788"/>
            </a:solidFill>
            <a:prstDash val="solid"/>
          </a:ln>
        </p:spPr>
      </p:sp>
      <p:sp>
        <p:nvSpPr>
          <p:cNvPr id="7" name="Text 5"/>
          <p:cNvSpPr/>
          <p:nvPr/>
        </p:nvSpPr>
        <p:spPr>
          <a:xfrm>
            <a:off x="548640" y="1097280"/>
            <a:ext cx="3749040" cy="1463040"/>
          </a:xfrm>
          <a:prstGeom prst="rect">
            <a:avLst/>
          </a:prstGeom>
          <a:noFill/>
          <a:ln/>
        </p:spPr>
        <p:txBody>
          <a:bodyPr wrap="square" rtlCol="0" anchor="ctr"/>
          <a:lstStyle/>
          <a:p>
            <a:pPr algn="l" indent="0" marL="0">
              <a:buNone/>
            </a:pPr>
            <a:r>
              <a:rPr lang="en-US" sz="1500" b="1" dirty="0">
                <a:solidFill>
                  <a:srgbClr val="1F4788"/>
                </a:solidFill>
              </a:rPr>
              <a:t>Hardware Description</a:t>
            </a:r>
            <a:endParaRPr lang="en-US" sz="1300" dirty="0"/>
          </a:p>
          <a:p>
            <a:pPr algn="l" marL="342900" indent="-342900">
              <a:buSzPct val="100000"/>
              <a:buChar char="•"/>
            </a:pPr>
            <a:r>
              <a:rPr lang="en-US" sz="1300" dirty="0">
                <a:solidFill>
                  <a:srgbClr val="333333"/>
                </a:solidFill>
              </a:rPr>
              <a:t>• Verilog HDL</a:t>
            </a:r>
            <a:endParaRPr lang="en-US" sz="1300" dirty="0"/>
          </a:p>
          <a:p>
            <a:pPr algn="l" marL="342900" indent="-342900">
              <a:buSzPct val="100000"/>
              <a:buChar char="•"/>
            </a:pPr>
            <a:r>
              <a:rPr lang="en-US" sz="1300" dirty="0">
                <a:solidFill>
                  <a:srgbClr val="333333"/>
                </a:solidFill>
              </a:rPr>
              <a:t>• System Verilog</a:t>
            </a:r>
            <a:endParaRPr lang="en-US" sz="1300" dirty="0"/>
          </a:p>
          <a:p>
            <a:pPr algn="l" indent="0" marL="0">
              <a:buNone/>
            </a:pPr>
            <a:r>
              <a:rPr lang="en-US" sz="1500" b="1" dirty="0">
                <a:solidFill>
                  <a:srgbClr val="1F4788"/>
                </a:solidFill>
              </a:rPr>
              <a:t>Simulation &amp; Verification</a:t>
            </a:r>
            <a:endParaRPr lang="en-US" sz="1300" dirty="0"/>
          </a:p>
          <a:p>
            <a:pPr algn="l" marL="342900" indent="-342900">
              <a:buSzPct val="100000"/>
              <a:buChar char="•"/>
            </a:pPr>
            <a:r>
              <a:rPr lang="en-US" sz="1300" dirty="0">
                <a:solidFill>
                  <a:srgbClr val="333333"/>
                </a:solidFill>
              </a:rPr>
              <a:t>• ModelSim</a:t>
            </a:r>
            <a:endParaRPr lang="en-US" sz="1300" dirty="0"/>
          </a:p>
          <a:p>
            <a:pPr algn="l" marL="342900" indent="-342900">
              <a:buSzPct val="100000"/>
              <a:buChar char="•"/>
            </a:pPr>
            <a:r>
              <a:rPr lang="en-US" sz="1300" dirty="0">
                <a:solidFill>
                  <a:srgbClr val="333333"/>
                </a:solidFill>
              </a:rPr>
              <a:t>• Xilinx Vivado Simulator</a:t>
            </a:r>
            <a:endParaRPr lang="en-US" sz="1300" dirty="0"/>
          </a:p>
        </p:txBody>
      </p:sp>
      <p:sp>
        <p:nvSpPr>
          <p:cNvPr id="8" name="Shape 6"/>
          <p:cNvSpPr/>
          <p:nvPr/>
        </p:nvSpPr>
        <p:spPr>
          <a:xfrm>
            <a:off x="4754880" y="1005840"/>
            <a:ext cx="3931920" cy="1645920"/>
          </a:xfrm>
          <a:prstGeom prst="rect">
            <a:avLst/>
          </a:prstGeom>
          <a:solidFill>
            <a:srgbClr val="FFFFFF"/>
          </a:solidFill>
          <a:ln w="25400">
            <a:solidFill>
              <a:srgbClr val="1F4788"/>
            </a:solidFill>
            <a:prstDash val="solid"/>
          </a:ln>
        </p:spPr>
      </p:sp>
      <p:sp>
        <p:nvSpPr>
          <p:cNvPr id="9" name="Text 7"/>
          <p:cNvSpPr/>
          <p:nvPr/>
        </p:nvSpPr>
        <p:spPr>
          <a:xfrm>
            <a:off x="4846320" y="1097280"/>
            <a:ext cx="3749040" cy="1463040"/>
          </a:xfrm>
          <a:prstGeom prst="rect">
            <a:avLst/>
          </a:prstGeom>
          <a:noFill/>
          <a:ln/>
        </p:spPr>
        <p:txBody>
          <a:bodyPr wrap="square" rtlCol="0" anchor="ctr"/>
          <a:lstStyle/>
          <a:p>
            <a:pPr algn="l" indent="0" marL="0">
              <a:buNone/>
            </a:pPr>
            <a:r>
              <a:rPr lang="en-US" sz="1500" b="1" dirty="0">
                <a:solidFill>
                  <a:srgbClr val="1F4788"/>
                </a:solidFill>
              </a:rPr>
              <a:t>FPGA Implementation</a:t>
            </a:r>
            <a:endParaRPr lang="en-US" sz="1300" dirty="0"/>
          </a:p>
          <a:p>
            <a:pPr algn="l" marL="342900" indent="-342900">
              <a:buSzPct val="100000"/>
              <a:buChar char="•"/>
            </a:pPr>
            <a:r>
              <a:rPr lang="en-US" sz="1300" dirty="0">
                <a:solidFill>
                  <a:srgbClr val="333333"/>
                </a:solidFill>
              </a:rPr>
              <a:t>• Xilinx Vivado Design Suite</a:t>
            </a:r>
            <a:endParaRPr lang="en-US" sz="1300" dirty="0"/>
          </a:p>
          <a:p>
            <a:pPr algn="l" marL="342900" indent="-342900">
              <a:buSzPct val="100000"/>
              <a:buChar char="•"/>
            </a:pPr>
            <a:r>
              <a:rPr lang="en-US" sz="1300" dirty="0">
                <a:solidFill>
                  <a:srgbClr val="333333"/>
                </a:solidFill>
              </a:rPr>
              <a:t>• FPGA Platform: Artix-7 / Zynq</a:t>
            </a:r>
            <a:endParaRPr lang="en-US" sz="1300" dirty="0"/>
          </a:p>
          <a:p>
            <a:pPr algn="l" indent="0" marL="0">
              <a:buNone/>
            </a:pPr>
            <a:r>
              <a:rPr lang="en-US" sz="1500" b="1" dirty="0">
                <a:solidFill>
                  <a:srgbClr val="1F4788"/>
                </a:solidFill>
              </a:rPr>
              <a:t>ASIC Synthesis</a:t>
            </a:r>
            <a:endParaRPr lang="en-US" sz="1300" dirty="0"/>
          </a:p>
          <a:p>
            <a:pPr algn="l" marL="342900" indent="-342900">
              <a:buSzPct val="100000"/>
              <a:buChar char="•"/>
            </a:pPr>
            <a:r>
              <a:rPr lang="en-US" sz="1300" dirty="0">
                <a:solidFill>
                  <a:srgbClr val="333333"/>
                </a:solidFill>
              </a:rPr>
              <a:t>• Cadence Genus / Synopsys Design Compiler</a:t>
            </a:r>
            <a:endParaRPr lang="en-US" sz="1300" dirty="0"/>
          </a:p>
          <a:p>
            <a:pPr algn="l" marL="342900" indent="-342900">
              <a:buSzPct val="100000"/>
              <a:buChar char="•"/>
            </a:pPr>
            <a:r>
              <a:rPr lang="en-US" sz="1300" dirty="0">
                <a:solidFill>
                  <a:srgbClr val="333333"/>
                </a:solidFill>
              </a:rPr>
              <a:t>• Technology: TSMC 65nm</a:t>
            </a:r>
            <a:endParaRPr lang="en-US" sz="1300" dirty="0"/>
          </a:p>
        </p:txBody>
      </p:sp>
      <p:sp>
        <p:nvSpPr>
          <p:cNvPr id="10" name="Shape 8"/>
          <p:cNvSpPr/>
          <p:nvPr/>
        </p:nvSpPr>
        <p:spPr>
          <a:xfrm>
            <a:off x="457200" y="2834640"/>
            <a:ext cx="3931920" cy="1554480"/>
          </a:xfrm>
          <a:prstGeom prst="rect">
            <a:avLst/>
          </a:prstGeom>
          <a:solidFill>
            <a:srgbClr val="FFFFFF"/>
          </a:solidFill>
          <a:ln w="25400">
            <a:solidFill>
              <a:srgbClr val="1F4788"/>
            </a:solidFill>
            <a:prstDash val="solid"/>
          </a:ln>
        </p:spPr>
      </p:sp>
      <p:sp>
        <p:nvSpPr>
          <p:cNvPr id="11" name="Text 9"/>
          <p:cNvSpPr/>
          <p:nvPr/>
        </p:nvSpPr>
        <p:spPr>
          <a:xfrm>
            <a:off x="548640" y="2926080"/>
            <a:ext cx="3749040" cy="1371600"/>
          </a:xfrm>
          <a:prstGeom prst="rect">
            <a:avLst/>
          </a:prstGeom>
          <a:noFill/>
          <a:ln/>
        </p:spPr>
        <p:txBody>
          <a:bodyPr wrap="square" rtlCol="0" anchor="ctr"/>
          <a:lstStyle/>
          <a:p>
            <a:pPr algn="l" indent="0" marL="0">
              <a:buNone/>
            </a:pPr>
            <a:r>
              <a:rPr lang="en-US" sz="1500" b="1" dirty="0">
                <a:solidFill>
                  <a:srgbClr val="1F4788"/>
                </a:solidFill>
              </a:rPr>
              <a:t>Analysis &amp; Optimization</a:t>
            </a:r>
            <a:endParaRPr lang="en-US" sz="1300" dirty="0"/>
          </a:p>
          <a:p>
            <a:pPr algn="l" marL="342900" indent="-342900">
              <a:buSzPct val="100000"/>
              <a:buChar char="•"/>
            </a:pPr>
            <a:r>
              <a:rPr lang="en-US" sz="1300" dirty="0">
                <a:solidFill>
                  <a:srgbClr val="333333"/>
                </a:solidFill>
              </a:rPr>
              <a:t>• Cadence Innovus (Place &amp; Route)</a:t>
            </a:r>
            <a:endParaRPr lang="en-US" sz="1300" dirty="0"/>
          </a:p>
          <a:p>
            <a:pPr algn="l" marL="342900" indent="-342900">
              <a:buSzPct val="100000"/>
              <a:buChar char="•"/>
            </a:pPr>
            <a:r>
              <a:rPr lang="en-US" sz="1300" dirty="0">
                <a:solidFill>
                  <a:srgbClr val="333333"/>
                </a:solidFill>
              </a:rPr>
              <a:t>• Synopsys PrimeTime (Static Timing)</a:t>
            </a:r>
            <a:endParaRPr lang="en-US" sz="1300" dirty="0"/>
          </a:p>
          <a:p>
            <a:pPr algn="l" marL="342900" indent="-342900">
              <a:buSzPct val="100000"/>
              <a:buChar char="•"/>
            </a:pPr>
            <a:r>
              <a:rPr lang="en-US" sz="1300" dirty="0">
                <a:solidFill>
                  <a:srgbClr val="333333"/>
                </a:solidFill>
              </a:rPr>
              <a:t>• PrimePower (Power Analysis)</a:t>
            </a:r>
            <a:endParaRPr lang="en-US" sz="1300" dirty="0"/>
          </a:p>
          <a:p>
            <a:pPr algn="l" marL="342900" indent="-342900">
              <a:buSzPct val="100000"/>
              <a:buChar char="•"/>
            </a:pPr>
            <a:r>
              <a:rPr lang="en-US" sz="1300" dirty="0">
                <a:solidFill>
                  <a:srgbClr val="333333"/>
                </a:solidFill>
              </a:rPr>
              <a:t>• MATLAB / Python (Data Analysis)</a:t>
            </a:r>
            <a:endParaRPr lang="en-US" sz="1300" dirty="0"/>
          </a:p>
        </p:txBody>
      </p:sp>
      <p:sp>
        <p:nvSpPr>
          <p:cNvPr id="12" name="Shape 10"/>
          <p:cNvSpPr/>
          <p:nvPr/>
        </p:nvSpPr>
        <p:spPr>
          <a:xfrm>
            <a:off x="4754880" y="2834640"/>
            <a:ext cx="3931920" cy="1554480"/>
          </a:xfrm>
          <a:prstGeom prst="rect">
            <a:avLst/>
          </a:prstGeom>
          <a:solidFill>
            <a:srgbClr val="FFFFFF"/>
          </a:solidFill>
          <a:ln w="25400">
            <a:solidFill>
              <a:srgbClr val="1F4788"/>
            </a:solidFill>
            <a:prstDash val="solid"/>
          </a:ln>
        </p:spPr>
      </p:sp>
      <p:sp>
        <p:nvSpPr>
          <p:cNvPr id="13" name="Text 11"/>
          <p:cNvSpPr/>
          <p:nvPr/>
        </p:nvSpPr>
        <p:spPr>
          <a:xfrm>
            <a:off x="4846320" y="2926080"/>
            <a:ext cx="3749040" cy="1371600"/>
          </a:xfrm>
          <a:prstGeom prst="rect">
            <a:avLst/>
          </a:prstGeom>
          <a:noFill/>
          <a:ln/>
        </p:spPr>
        <p:txBody>
          <a:bodyPr wrap="square" rtlCol="0" anchor="ctr"/>
          <a:lstStyle/>
          <a:p>
            <a:pPr algn="l" indent="0" marL="0">
              <a:buNone/>
            </a:pPr>
            <a:r>
              <a:rPr lang="en-US" sz="1500" b="1" dirty="0">
                <a:solidFill>
                  <a:srgbClr val="1F4788"/>
                </a:solidFill>
              </a:rPr>
              <a:t>Documentation &amp; Publication</a:t>
            </a:r>
            <a:endParaRPr lang="en-US" sz="1300" dirty="0"/>
          </a:p>
          <a:p>
            <a:pPr algn="l" marL="342900" indent="-342900">
              <a:buSzPct val="100000"/>
              <a:buChar char="•"/>
            </a:pPr>
            <a:r>
              <a:rPr lang="en-US" sz="1300" dirty="0">
                <a:solidFill>
                  <a:srgbClr val="333333"/>
                </a:solidFill>
              </a:rPr>
              <a:t>• LaTeX (IEEE paper template)</a:t>
            </a:r>
            <a:endParaRPr lang="en-US" sz="1300" dirty="0"/>
          </a:p>
          <a:p>
            <a:pPr algn="l" marL="342900" indent="-342900">
              <a:buSzPct val="100000"/>
              <a:buChar char="•"/>
            </a:pPr>
            <a:r>
              <a:rPr lang="en-US" sz="1300" dirty="0">
                <a:solidFill>
                  <a:srgbClr val="333333"/>
                </a:solidFill>
              </a:rPr>
              <a:t>• Overleaf / TeXstudio</a:t>
            </a:r>
            <a:endParaRPr lang="en-US" sz="1300" dirty="0"/>
          </a:p>
          <a:p>
            <a:pPr algn="l" marL="342900" indent="-342900">
              <a:buSzPct val="100000"/>
              <a:buChar char="•"/>
            </a:pPr>
            <a:r>
              <a:rPr lang="en-US" sz="1300" dirty="0">
                <a:solidFill>
                  <a:srgbClr val="333333"/>
                </a:solidFill>
              </a:rPr>
              <a:t>• MATLAB / Python (Graphs &amp; Plots)</a:t>
            </a:r>
            <a:endParaRPr lang="en-US" sz="1300" dirty="0"/>
          </a:p>
          <a:p>
            <a:pPr algn="l" marL="342900" indent="-342900">
              <a:buSzPct val="100000"/>
              <a:buChar char="•"/>
            </a:pPr>
            <a:r>
              <a:rPr lang="en-US" sz="1300" dirty="0">
                <a:solidFill>
                  <a:srgbClr val="333333"/>
                </a:solidFill>
              </a:rPr>
              <a:t>• Microsoft Visio (Diagrams)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3200" b="1" dirty="0">
                <a:solidFill>
                  <a:srgbClr val="1E3A5F"/>
                </a:solidFill>
              </a:rPr>
              <a:t>Target Applications</a:t>
            </a:r>
            <a:endParaRPr lang="en-US" sz="3200" dirty="0"/>
          </a:p>
        </p:txBody>
      </p:sp>
      <p:sp>
        <p:nvSpPr>
          <p:cNvPr id="6" name="Shape 4"/>
          <p:cNvSpPr/>
          <p:nvPr/>
        </p:nvSpPr>
        <p:spPr>
          <a:xfrm>
            <a:off x="457200" y="1005840"/>
            <a:ext cx="3840480" cy="411480"/>
          </a:xfrm>
          <a:prstGeom prst="rect">
            <a:avLst/>
          </a:prstGeom>
          <a:solidFill>
            <a:srgbClr val="FFFFFF"/>
          </a:solidFill>
          <a:ln w="19050">
            <a:solidFill>
              <a:srgbClr val="1F4788"/>
            </a:solidFill>
            <a:prstDash val="solid"/>
          </a:ln>
        </p:spPr>
      </p:sp>
      <p:sp>
        <p:nvSpPr>
          <p:cNvPr id="7" name="Text 5"/>
          <p:cNvSpPr/>
          <p:nvPr/>
        </p:nvSpPr>
        <p:spPr>
          <a:xfrm>
            <a:off x="548640" y="1051560"/>
            <a:ext cx="3657600" cy="320040"/>
          </a:xfrm>
          <a:prstGeom prst="rect">
            <a:avLst/>
          </a:prstGeom>
          <a:noFill/>
          <a:ln/>
        </p:spPr>
        <p:txBody>
          <a:bodyPr wrap="square" rtlCol="0" anchor="t"/>
          <a:lstStyle/>
          <a:p>
            <a:pPr algn="l" indent="0" marL="0">
              <a:buNone/>
            </a:pPr>
            <a:r>
              <a:rPr lang="en-US" sz="1300" b="1" dirty="0">
                <a:solidFill>
                  <a:srgbClr val="1F4788"/>
                </a:solidFill>
              </a:rPr>
              <a:t>AI Accelerators</a:t>
            </a:r>
            <a:endParaRPr lang="en-US" sz="1300" dirty="0"/>
          </a:p>
          <a:p>
            <a:pPr algn="l" indent="0" marL="0">
              <a:buNone/>
            </a:pPr>
            <a:r>
              <a:rPr lang="en-US" sz="1000" dirty="0">
                <a:solidFill>
                  <a:srgbClr val="333333"/>
                </a:solidFill>
              </a:rPr>
              <a:t>Hardware acceleration for artificial intelligence and machine learning workloads</a:t>
            </a:r>
            <a:endParaRPr lang="en-US" sz="1300" dirty="0"/>
          </a:p>
        </p:txBody>
      </p:sp>
      <p:sp>
        <p:nvSpPr>
          <p:cNvPr id="8" name="Shape 6"/>
          <p:cNvSpPr/>
          <p:nvPr/>
        </p:nvSpPr>
        <p:spPr>
          <a:xfrm>
            <a:off x="4572000" y="1005840"/>
            <a:ext cx="3840480" cy="411480"/>
          </a:xfrm>
          <a:prstGeom prst="rect">
            <a:avLst/>
          </a:prstGeom>
          <a:solidFill>
            <a:srgbClr val="FFFFFF"/>
          </a:solidFill>
          <a:ln w="19050">
            <a:solidFill>
              <a:srgbClr val="1F4788"/>
            </a:solidFill>
            <a:prstDash val="solid"/>
          </a:ln>
        </p:spPr>
      </p:sp>
      <p:sp>
        <p:nvSpPr>
          <p:cNvPr id="9" name="Text 7"/>
          <p:cNvSpPr/>
          <p:nvPr/>
        </p:nvSpPr>
        <p:spPr>
          <a:xfrm>
            <a:off x="4663440" y="1051560"/>
            <a:ext cx="3657600" cy="320040"/>
          </a:xfrm>
          <a:prstGeom prst="rect">
            <a:avLst/>
          </a:prstGeom>
          <a:noFill/>
          <a:ln/>
        </p:spPr>
        <p:txBody>
          <a:bodyPr wrap="square" rtlCol="0" anchor="t"/>
          <a:lstStyle/>
          <a:p>
            <a:pPr algn="l" indent="0" marL="0">
              <a:buNone/>
            </a:pPr>
            <a:r>
              <a:rPr lang="en-US" sz="1300" b="1" dirty="0">
                <a:solidFill>
                  <a:srgbClr val="1F4788"/>
                </a:solidFill>
              </a:rPr>
              <a:t>CNN Hardware</a:t>
            </a:r>
            <a:endParaRPr lang="en-US" sz="1300" dirty="0"/>
          </a:p>
          <a:p>
            <a:pPr algn="l" indent="0" marL="0">
              <a:buNone/>
            </a:pPr>
            <a:r>
              <a:rPr lang="en-US" sz="1000" dirty="0">
                <a:solidFill>
                  <a:srgbClr val="333333"/>
                </a:solidFill>
              </a:rPr>
              <a:t>Convolutional Neural Network processing units for image and video analysis</a:t>
            </a:r>
            <a:endParaRPr lang="en-US" sz="1300" dirty="0"/>
          </a:p>
        </p:txBody>
      </p:sp>
      <p:sp>
        <p:nvSpPr>
          <p:cNvPr id="10" name="Shape 8"/>
          <p:cNvSpPr/>
          <p:nvPr/>
        </p:nvSpPr>
        <p:spPr>
          <a:xfrm>
            <a:off x="457200" y="1463040"/>
            <a:ext cx="3840480" cy="411480"/>
          </a:xfrm>
          <a:prstGeom prst="rect">
            <a:avLst/>
          </a:prstGeom>
          <a:solidFill>
            <a:srgbClr val="FFFFFF"/>
          </a:solidFill>
          <a:ln w="19050">
            <a:solidFill>
              <a:srgbClr val="1F4788"/>
            </a:solidFill>
            <a:prstDash val="solid"/>
          </a:ln>
        </p:spPr>
      </p:sp>
      <p:sp>
        <p:nvSpPr>
          <p:cNvPr id="11" name="Text 9"/>
          <p:cNvSpPr/>
          <p:nvPr/>
        </p:nvSpPr>
        <p:spPr>
          <a:xfrm>
            <a:off x="548640" y="1508760"/>
            <a:ext cx="3657600" cy="320040"/>
          </a:xfrm>
          <a:prstGeom prst="rect">
            <a:avLst/>
          </a:prstGeom>
          <a:noFill/>
          <a:ln/>
        </p:spPr>
        <p:txBody>
          <a:bodyPr wrap="square" rtlCol="0" anchor="t"/>
          <a:lstStyle/>
          <a:p>
            <a:pPr algn="l" indent="0" marL="0">
              <a:buNone/>
            </a:pPr>
            <a:r>
              <a:rPr lang="en-US" sz="1300" b="1" dirty="0">
                <a:solidFill>
                  <a:srgbClr val="1F4788"/>
                </a:solidFill>
              </a:rPr>
              <a:t>Edge AI Processors</a:t>
            </a:r>
            <a:endParaRPr lang="en-US" sz="1300" dirty="0"/>
          </a:p>
          <a:p>
            <a:pPr algn="l" indent="0" marL="0">
              <a:buNone/>
            </a:pPr>
            <a:r>
              <a:rPr lang="en-US" sz="1000" dirty="0">
                <a:solidFill>
                  <a:srgbClr val="333333"/>
                </a:solidFill>
              </a:rPr>
              <a:t>Low-power AI computation at the network edge for IoT and mobile devices</a:t>
            </a:r>
            <a:endParaRPr lang="en-US" sz="1300" dirty="0"/>
          </a:p>
        </p:txBody>
      </p:sp>
      <p:sp>
        <p:nvSpPr>
          <p:cNvPr id="12" name="Shape 10"/>
          <p:cNvSpPr/>
          <p:nvPr/>
        </p:nvSpPr>
        <p:spPr>
          <a:xfrm>
            <a:off x="4572000" y="1463040"/>
            <a:ext cx="3840480" cy="411480"/>
          </a:xfrm>
          <a:prstGeom prst="rect">
            <a:avLst/>
          </a:prstGeom>
          <a:solidFill>
            <a:srgbClr val="FFFFFF"/>
          </a:solidFill>
          <a:ln w="19050">
            <a:solidFill>
              <a:srgbClr val="1F4788"/>
            </a:solidFill>
            <a:prstDash val="solid"/>
          </a:ln>
        </p:spPr>
      </p:sp>
      <p:sp>
        <p:nvSpPr>
          <p:cNvPr id="13" name="Text 11"/>
          <p:cNvSpPr/>
          <p:nvPr/>
        </p:nvSpPr>
        <p:spPr>
          <a:xfrm>
            <a:off x="4663440" y="1508760"/>
            <a:ext cx="3657600" cy="320040"/>
          </a:xfrm>
          <a:prstGeom prst="rect">
            <a:avLst/>
          </a:prstGeom>
          <a:noFill/>
          <a:ln/>
        </p:spPr>
        <p:txBody>
          <a:bodyPr wrap="square" rtlCol="0" anchor="t"/>
          <a:lstStyle/>
          <a:p>
            <a:pPr algn="l" indent="0" marL="0">
              <a:buNone/>
            </a:pPr>
            <a:r>
              <a:rPr lang="en-US" sz="1300" b="1" dirty="0">
                <a:solidFill>
                  <a:srgbClr val="1F4788"/>
                </a:solidFill>
              </a:rPr>
              <a:t>DSP Systems</a:t>
            </a:r>
            <a:endParaRPr lang="en-US" sz="1300" dirty="0"/>
          </a:p>
          <a:p>
            <a:pPr algn="l" indent="0" marL="0">
              <a:buNone/>
            </a:pPr>
            <a:r>
              <a:rPr lang="en-US" sz="1000" dirty="0">
                <a:solidFill>
                  <a:srgbClr val="333333"/>
                </a:solidFill>
              </a:rPr>
              <a:t>Digital Signal Processing applications requiring high-speed floating-point operations</a:t>
            </a:r>
            <a:endParaRPr lang="en-US" sz="1300" dirty="0"/>
          </a:p>
        </p:txBody>
      </p:sp>
      <p:sp>
        <p:nvSpPr>
          <p:cNvPr id="14" name="Shape 12"/>
          <p:cNvSpPr/>
          <p:nvPr/>
        </p:nvSpPr>
        <p:spPr>
          <a:xfrm>
            <a:off x="457200" y="1920240"/>
            <a:ext cx="3840480" cy="411480"/>
          </a:xfrm>
          <a:prstGeom prst="rect">
            <a:avLst/>
          </a:prstGeom>
          <a:solidFill>
            <a:srgbClr val="FFFFFF"/>
          </a:solidFill>
          <a:ln w="19050">
            <a:solidFill>
              <a:srgbClr val="1F4788"/>
            </a:solidFill>
            <a:prstDash val="solid"/>
          </a:ln>
        </p:spPr>
      </p:sp>
      <p:sp>
        <p:nvSpPr>
          <p:cNvPr id="15" name="Text 13"/>
          <p:cNvSpPr/>
          <p:nvPr/>
        </p:nvSpPr>
        <p:spPr>
          <a:xfrm>
            <a:off x="548640" y="1965960"/>
            <a:ext cx="3657600" cy="320040"/>
          </a:xfrm>
          <a:prstGeom prst="rect">
            <a:avLst/>
          </a:prstGeom>
          <a:noFill/>
          <a:ln/>
        </p:spPr>
        <p:txBody>
          <a:bodyPr wrap="square" rtlCol="0" anchor="t"/>
          <a:lstStyle/>
          <a:p>
            <a:pPr algn="l" indent="0" marL="0">
              <a:buNone/>
            </a:pPr>
            <a:r>
              <a:rPr lang="en-US" sz="1300" b="1" dirty="0">
                <a:solidFill>
                  <a:srgbClr val="1F4788"/>
                </a:solidFill>
              </a:rPr>
              <a:t>Embedded AI Hardware</a:t>
            </a:r>
            <a:endParaRPr lang="en-US" sz="1300" dirty="0"/>
          </a:p>
          <a:p>
            <a:pPr algn="l" indent="0" marL="0">
              <a:buNone/>
            </a:pPr>
            <a:r>
              <a:rPr lang="en-US" sz="1000" dirty="0">
                <a:solidFill>
                  <a:srgbClr val="333333"/>
                </a:solidFill>
              </a:rPr>
              <a:t>Embedded systems with AI capabilities for robotics and autonomous systems</a:t>
            </a:r>
            <a:endParaRPr lang="en-US" sz="1300" dirty="0"/>
          </a:p>
        </p:txBody>
      </p:sp>
      <p:sp>
        <p:nvSpPr>
          <p:cNvPr id="16" name="Shape 14"/>
          <p:cNvSpPr/>
          <p:nvPr/>
        </p:nvSpPr>
        <p:spPr>
          <a:xfrm>
            <a:off x="4572000" y="1920240"/>
            <a:ext cx="3840480" cy="411480"/>
          </a:xfrm>
          <a:prstGeom prst="rect">
            <a:avLst/>
          </a:prstGeom>
          <a:solidFill>
            <a:srgbClr val="FFFFFF"/>
          </a:solidFill>
          <a:ln w="19050">
            <a:solidFill>
              <a:srgbClr val="1F4788"/>
            </a:solidFill>
            <a:prstDash val="solid"/>
          </a:ln>
        </p:spPr>
      </p:sp>
      <p:sp>
        <p:nvSpPr>
          <p:cNvPr id="17" name="Text 15"/>
          <p:cNvSpPr/>
          <p:nvPr/>
        </p:nvSpPr>
        <p:spPr>
          <a:xfrm>
            <a:off x="4663440" y="1965960"/>
            <a:ext cx="3657600" cy="320040"/>
          </a:xfrm>
          <a:prstGeom prst="rect">
            <a:avLst/>
          </a:prstGeom>
          <a:noFill/>
          <a:ln/>
        </p:spPr>
        <p:txBody>
          <a:bodyPr wrap="square" rtlCol="0" anchor="t"/>
          <a:lstStyle/>
          <a:p>
            <a:pPr algn="l" indent="0" marL="0">
              <a:buNone/>
            </a:pPr>
            <a:r>
              <a:rPr lang="en-US" sz="1300" b="1" dirty="0">
                <a:solidFill>
                  <a:srgbClr val="1F4788"/>
                </a:solidFill>
              </a:rPr>
              <a:t>Image Processing</a:t>
            </a:r>
            <a:endParaRPr lang="en-US" sz="1300" dirty="0"/>
          </a:p>
          <a:p>
            <a:pPr algn="l" indent="0" marL="0">
              <a:buNone/>
            </a:pPr>
            <a:r>
              <a:rPr lang="en-US" sz="1000" dirty="0">
                <a:solidFill>
                  <a:srgbClr val="333333"/>
                </a:solidFill>
              </a:rPr>
              <a:t>Real-time image and video processing systems with neural network acceleration</a:t>
            </a:r>
            <a:endParaRPr lang="en-US" sz="1300" dirty="0"/>
          </a:p>
        </p:txBody>
      </p:sp>
      <p:sp>
        <p:nvSpPr>
          <p:cNvPr id="18" name="Shape 16"/>
          <p:cNvSpPr/>
          <p:nvPr/>
        </p:nvSpPr>
        <p:spPr>
          <a:xfrm>
            <a:off x="457200" y="2377440"/>
            <a:ext cx="3840480" cy="411480"/>
          </a:xfrm>
          <a:prstGeom prst="rect">
            <a:avLst/>
          </a:prstGeom>
          <a:solidFill>
            <a:srgbClr val="FFFFFF"/>
          </a:solidFill>
          <a:ln w="19050">
            <a:solidFill>
              <a:srgbClr val="1F4788"/>
            </a:solidFill>
            <a:prstDash val="solid"/>
          </a:ln>
        </p:spPr>
      </p:sp>
      <p:sp>
        <p:nvSpPr>
          <p:cNvPr id="19" name="Text 17"/>
          <p:cNvSpPr/>
          <p:nvPr/>
        </p:nvSpPr>
        <p:spPr>
          <a:xfrm>
            <a:off x="548640" y="2423160"/>
            <a:ext cx="3657600" cy="320040"/>
          </a:xfrm>
          <a:prstGeom prst="rect">
            <a:avLst/>
          </a:prstGeom>
          <a:noFill/>
          <a:ln/>
        </p:spPr>
        <p:txBody>
          <a:bodyPr wrap="square" rtlCol="0" anchor="t"/>
          <a:lstStyle/>
          <a:p>
            <a:pPr algn="l" indent="0" marL="0">
              <a:buNone/>
            </a:pPr>
            <a:r>
              <a:rPr lang="en-US" sz="1300" b="1" dirty="0">
                <a:solidFill>
                  <a:srgbClr val="1F4788"/>
                </a:solidFill>
              </a:rPr>
              <a:t>FPGA/ASIC NN Accelerators</a:t>
            </a:r>
            <a:endParaRPr lang="en-US" sz="1300" dirty="0"/>
          </a:p>
          <a:p>
            <a:pPr algn="l" indent="0" marL="0">
              <a:buNone/>
            </a:pPr>
            <a:r>
              <a:rPr lang="en-US" sz="1000" dirty="0">
                <a:solidFill>
                  <a:srgbClr val="333333"/>
                </a:solidFill>
              </a:rPr>
              <a:t>Custom silicon implementations for dedicated neural network computation</a:t>
            </a:r>
            <a:endParaRPr lang="en-US" sz="1300" dirty="0"/>
          </a:p>
        </p:txBody>
      </p:sp>
      <p:sp>
        <p:nvSpPr>
          <p:cNvPr id="20" name="Shape 18"/>
          <p:cNvSpPr/>
          <p:nvPr/>
        </p:nvSpPr>
        <p:spPr>
          <a:xfrm>
            <a:off x="4572000" y="2377440"/>
            <a:ext cx="3840480" cy="411480"/>
          </a:xfrm>
          <a:prstGeom prst="rect">
            <a:avLst/>
          </a:prstGeom>
          <a:solidFill>
            <a:srgbClr val="FFFFFF"/>
          </a:solidFill>
          <a:ln w="19050">
            <a:solidFill>
              <a:srgbClr val="1F4788"/>
            </a:solidFill>
            <a:prstDash val="solid"/>
          </a:ln>
        </p:spPr>
      </p:sp>
      <p:sp>
        <p:nvSpPr>
          <p:cNvPr id="21" name="Text 19"/>
          <p:cNvSpPr/>
          <p:nvPr/>
        </p:nvSpPr>
        <p:spPr>
          <a:xfrm>
            <a:off x="4663440" y="2423160"/>
            <a:ext cx="3657600" cy="320040"/>
          </a:xfrm>
          <a:prstGeom prst="rect">
            <a:avLst/>
          </a:prstGeom>
          <a:noFill/>
          <a:ln/>
        </p:spPr>
        <p:txBody>
          <a:bodyPr wrap="square" rtlCol="0" anchor="t"/>
          <a:lstStyle/>
          <a:p>
            <a:pPr algn="l" indent="0" marL="0">
              <a:buNone/>
            </a:pPr>
            <a:r>
              <a:rPr lang="en-US" sz="1300" b="1" dirty="0">
                <a:solidFill>
                  <a:srgbClr val="1F4788"/>
                </a:solidFill>
              </a:rPr>
              <a:t>Automotive AI</a:t>
            </a:r>
            <a:endParaRPr lang="en-US" sz="1300" dirty="0"/>
          </a:p>
          <a:p>
            <a:pPr algn="l" indent="0" marL="0">
              <a:buNone/>
            </a:pPr>
            <a:r>
              <a:rPr lang="en-US" sz="1000" dirty="0">
                <a:solidFill>
                  <a:srgbClr val="333333"/>
                </a:solidFill>
              </a:rPr>
              <a:t>Advanced driver assistance systems (ADAS) and autonomous vehicle computation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2800" b="1" dirty="0">
                <a:solidFill>
                  <a:srgbClr val="1E3A5F"/>
                </a:solidFill>
              </a:rPr>
              <a:t>Research Contribution &amp; Novelty</a:t>
            </a:r>
            <a:endParaRPr lang="en-US" sz="2800" dirty="0"/>
          </a:p>
        </p:txBody>
      </p:sp>
      <p:sp>
        <p:nvSpPr>
          <p:cNvPr id="6" name="Shape 4"/>
          <p:cNvSpPr/>
          <p:nvPr/>
        </p:nvSpPr>
        <p:spPr>
          <a:xfrm>
            <a:off x="457200" y="1005840"/>
            <a:ext cx="8229600" cy="731520"/>
          </a:xfrm>
          <a:prstGeom prst="rect">
            <a:avLst/>
          </a:prstGeom>
          <a:solidFill>
            <a:srgbClr val="1F4788"/>
          </a:solidFill>
          <a:ln/>
        </p:spPr>
      </p:sp>
      <p:sp>
        <p:nvSpPr>
          <p:cNvPr id="7" name="Text 5"/>
          <p:cNvSpPr/>
          <p:nvPr/>
        </p:nvSpPr>
        <p:spPr>
          <a:xfrm>
            <a:off x="457200" y="1005840"/>
            <a:ext cx="8229600" cy="731520"/>
          </a:xfrm>
          <a:prstGeom prst="rect">
            <a:avLst/>
          </a:prstGeom>
          <a:noFill/>
          <a:ln/>
        </p:spPr>
        <p:txBody>
          <a:bodyPr wrap="square" rtlCol="0" anchor="ctr"/>
          <a:lstStyle/>
          <a:p>
            <a:pPr algn="ctr" indent="0" marL="0">
              <a:buNone/>
            </a:pPr>
            <a:r>
              <a:rPr lang="en-US" sz="1800" b="1" dirty="0">
                <a:solidFill>
                  <a:srgbClr val="FFFFFF"/>
                </a:solidFill>
              </a:rPr>
              <a:t>Key Novel Contributions</a:t>
            </a:r>
            <a:endParaRPr lang="en-US" sz="1800" dirty="0"/>
          </a:p>
        </p:txBody>
      </p:sp>
      <p:sp>
        <p:nvSpPr>
          <p:cNvPr id="8" name="Text 6"/>
          <p:cNvSpPr/>
          <p:nvPr/>
        </p:nvSpPr>
        <p:spPr>
          <a:xfrm>
            <a:off x="457200" y="1920240"/>
            <a:ext cx="8229600" cy="2560320"/>
          </a:xfrm>
          <a:prstGeom prst="rect">
            <a:avLst/>
          </a:prstGeom>
          <a:noFill/>
          <a:ln/>
        </p:spPr>
        <p:txBody>
          <a:bodyPr wrap="square" rtlCol="0" anchor="t"/>
          <a:lstStyle/>
          <a:p>
            <a:pPr algn="l" indent="0" marL="0">
              <a:buNone/>
            </a:pPr>
            <a:r>
              <a:rPr lang="en-US" sz="1500" b="1" dirty="0">
                <a:solidFill>
                  <a:srgbClr val="1F4788"/>
                </a:solidFill>
              </a:rPr>
              <a:t>1. Architectural Innovation</a:t>
            </a:r>
            <a:endParaRPr lang="en-US" sz="1500" dirty="0"/>
          </a:p>
          <a:p>
            <a:pPr algn="l" indent="0" marL="0">
              <a:buNone/>
            </a:pPr>
            <a:r>
              <a:rPr lang="en-US" sz="1300" dirty="0">
                <a:solidFill>
                  <a:srgbClr val="333333"/>
                </a:solidFill>
              </a:rPr>
              <a:t>First comprehensive integration of multi-stage pipelining with Radix-8 BPR algorithm, enabling concurrent execution of recoding, partial product generation, compression, and addition stages for maximum throughput.</a:t>
            </a:r>
            <a:endParaRPr lang="en-US" sz="1500" dirty="0"/>
          </a:p>
          <a:p>
            <a:pPr algn="l" indent="0" marL="0">
              <a:buNone/>
            </a:pPr>
            <a:r>
              <a:rPr lang="en-US" sz="1500" b="1" dirty="0">
                <a:solidFill>
                  <a:srgbClr val="1F4788"/>
                </a:solidFill>
              </a:rPr>
              <a:t>2. Advanced Reduction Technique</a:t>
            </a:r>
            <a:endParaRPr lang="en-US" sz="1500" dirty="0"/>
          </a:p>
          <a:p>
            <a:pPr algn="l" indent="0" marL="0">
              <a:buNone/>
            </a:pPr>
            <a:r>
              <a:rPr lang="en-US" sz="1300" dirty="0">
                <a:solidFill>
                  <a:srgbClr val="333333"/>
                </a:solidFill>
              </a:rPr>
              <a:t>Novel application of 4:2 compressor-based Wallace tree specifically optimized for BPR-generated partial products, achieving significant critical path reduction compared to conventional adder trees.</a:t>
            </a:r>
            <a:endParaRPr lang="en-US" sz="1500" dirty="0"/>
          </a:p>
          <a:p>
            <a:pPr algn="l" indent="0" marL="0">
              <a:buNone/>
            </a:pPr>
            <a:r>
              <a:rPr lang="en-US" sz="1500" b="1" dirty="0">
                <a:solidFill>
                  <a:srgbClr val="1F4788"/>
                </a:solidFill>
              </a:rPr>
              <a:t>3. AI-Optimized Integration</a:t>
            </a:r>
            <a:endParaRPr lang="en-US" sz="1500" dirty="0"/>
          </a:p>
          <a:p>
            <a:pPr algn="l" indent="0" marL="0">
              <a:buNone/>
            </a:pPr>
            <a:r>
              <a:rPr lang="en-US" sz="1300" dirty="0">
                <a:solidFill>
                  <a:srgbClr val="333333"/>
                </a:solidFill>
              </a:rPr>
              <a:t>Seamless integration into FP16 MAC units with CNN-specific optimizations, demonstrating superior energy efficiency in neural network convolution operations.</a:t>
            </a:r>
            <a:endParaRPr lang="en-US" sz="1500" dirty="0"/>
          </a:p>
          <a:p>
            <a:pPr algn="l" indent="0" marL="0">
              <a:buNone/>
            </a:pPr>
            <a:r>
              <a:rPr lang="en-US" sz="1500" b="1" dirty="0">
                <a:solidFill>
                  <a:srgbClr val="1F4788"/>
                </a:solidFill>
              </a:rPr>
              <a:t>4. Comprehensive Performance Analysis</a:t>
            </a:r>
            <a:endParaRPr lang="en-US" sz="1500" dirty="0"/>
          </a:p>
          <a:p>
            <a:pPr algn="l" indent="0" marL="0">
              <a:buNone/>
            </a:pPr>
            <a:r>
              <a:rPr lang="en-US" sz="1300" dirty="0">
                <a:solidFill>
                  <a:srgbClr val="333333"/>
                </a:solidFill>
              </a:rPr>
              <a:t>Extensive comparative evaluation across multiple dimensions (delay, power, area, throughput) with detailed PVT analysis and real-world AI workload testing.</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2800" b="1" dirty="0">
                <a:solidFill>
                  <a:srgbClr val="1E3A5F"/>
                </a:solidFill>
              </a:rPr>
              <a:t>Project Classification: Frontend VLSI Design</a:t>
            </a:r>
            <a:endParaRPr lang="en-US" sz="2800" dirty="0"/>
          </a:p>
        </p:txBody>
      </p:sp>
      <p:sp>
        <p:nvSpPr>
          <p:cNvPr id="6" name="Shape 4"/>
          <p:cNvSpPr/>
          <p:nvPr/>
        </p:nvSpPr>
        <p:spPr>
          <a:xfrm>
            <a:off x="1828800" y="1097280"/>
            <a:ext cx="5486400" cy="640080"/>
          </a:xfrm>
          <a:prstGeom prst="rect">
            <a:avLst/>
          </a:prstGeom>
          <a:solidFill>
            <a:srgbClr val="C1272D"/>
          </a:solidFill>
          <a:ln/>
        </p:spPr>
      </p:sp>
      <p:sp>
        <p:nvSpPr>
          <p:cNvPr id="7" name="Text 5"/>
          <p:cNvSpPr/>
          <p:nvPr/>
        </p:nvSpPr>
        <p:spPr>
          <a:xfrm>
            <a:off x="1828800" y="1097280"/>
            <a:ext cx="5486400" cy="640080"/>
          </a:xfrm>
          <a:prstGeom prst="rect">
            <a:avLst/>
          </a:prstGeom>
          <a:noFill/>
          <a:ln/>
        </p:spPr>
        <p:txBody>
          <a:bodyPr wrap="square" rtlCol="0" anchor="ctr"/>
          <a:lstStyle/>
          <a:p>
            <a:pPr algn="ctr" indent="0" marL="0">
              <a:buNone/>
            </a:pPr>
            <a:r>
              <a:rPr lang="en-US" sz="2000" b="1" dirty="0">
                <a:solidFill>
                  <a:srgbClr val="FFFFFF"/>
                </a:solidFill>
              </a:rPr>
              <a:t>This is a Frontend VLSI Project</a:t>
            </a:r>
            <a:endParaRPr lang="en-US" sz="2000" dirty="0"/>
          </a:p>
        </p:txBody>
      </p:sp>
      <p:sp>
        <p:nvSpPr>
          <p:cNvPr id="8" name="Text 6"/>
          <p:cNvSpPr/>
          <p:nvPr/>
        </p:nvSpPr>
        <p:spPr>
          <a:xfrm>
            <a:off x="457200" y="1920240"/>
            <a:ext cx="8229600" cy="2468880"/>
          </a:xfrm>
          <a:prstGeom prst="rect">
            <a:avLst/>
          </a:prstGeom>
          <a:noFill/>
          <a:ln/>
        </p:spPr>
        <p:txBody>
          <a:bodyPr wrap="square" rtlCol="0" anchor="t"/>
          <a:lstStyle/>
          <a:p>
            <a:pPr algn="l" indent="0" marL="0">
              <a:buNone/>
            </a:pPr>
            <a:r>
              <a:rPr lang="en-US" sz="1600" b="1" dirty="0">
                <a:solidFill>
                  <a:srgbClr val="1F4788"/>
                </a:solidFill>
              </a:rPr>
              <a:t>Project Scope Includes:</a:t>
            </a:r>
            <a:endParaRPr lang="en-US" sz="1600" dirty="0"/>
          </a:p>
          <a:p>
            <a:pPr algn="l" marL="342900" indent="-342900">
              <a:buSzPct val="100000"/>
              <a:buChar char="•"/>
            </a:pPr>
            <a:r>
              <a:rPr lang="en-US" sz="1400" dirty="0">
                <a:solidFill>
                  <a:srgbClr val="333333"/>
                </a:solidFill>
              </a:rPr>
              <a:t>RTL Design &amp; Architecture</a:t>
            </a:r>
            <a:endParaRPr lang="en-US" sz="1600" dirty="0"/>
          </a:p>
          <a:p>
            <a:pPr algn="l" lvl="1" indent="0" marL="0">
              <a:buNone/>
            </a:pPr>
            <a:r>
              <a:rPr lang="en-US" sz="1200" dirty="0">
                <a:solidFill>
                  <a:srgbClr val="333333"/>
                </a:solidFill>
              </a:rPr>
              <a:t>Complete Verilog HDL implementation of enhanced BPR multiplier modules</a:t>
            </a:r>
            <a:endParaRPr lang="en-US" sz="1600" dirty="0"/>
          </a:p>
          <a:p>
            <a:pPr algn="l" marL="342900" indent="-342900">
              <a:buSzPct val="100000"/>
              <a:buChar char="•"/>
            </a:pPr>
            <a:r>
              <a:rPr lang="en-US" sz="1400" dirty="0">
                <a:solidFill>
                  <a:srgbClr val="333333"/>
                </a:solidFill>
              </a:rPr>
              <a:t>Functional Verification</a:t>
            </a:r>
            <a:endParaRPr lang="en-US" sz="1600" dirty="0"/>
          </a:p>
          <a:p>
            <a:pPr algn="l" lvl="1" indent="0" marL="0">
              <a:buNone/>
            </a:pPr>
            <a:r>
              <a:rPr lang="en-US" sz="1200" dirty="0">
                <a:solidFill>
                  <a:srgbClr val="333333"/>
                </a:solidFill>
              </a:rPr>
              <a:t>Comprehensive simulation and testbench development</a:t>
            </a:r>
            <a:endParaRPr lang="en-US" sz="1600" dirty="0"/>
          </a:p>
          <a:p>
            <a:pPr algn="l" marL="342900" indent="-342900">
              <a:buSzPct val="100000"/>
              <a:buChar char="•"/>
            </a:pPr>
            <a:r>
              <a:rPr lang="en-US" sz="1400" dirty="0">
                <a:solidFill>
                  <a:srgbClr val="333333"/>
                </a:solidFill>
              </a:rPr>
              <a:t>Logic Synthesis</a:t>
            </a:r>
            <a:endParaRPr lang="en-US" sz="1600" dirty="0"/>
          </a:p>
          <a:p>
            <a:pPr algn="l" lvl="1" indent="0" marL="0">
              <a:buNone/>
            </a:pPr>
            <a:r>
              <a:rPr lang="en-US" sz="1200" dirty="0">
                <a:solidFill>
                  <a:srgbClr val="333333"/>
                </a:solidFill>
              </a:rPr>
              <a:t>FPGA synthesis using Xilinx Vivado and ASIC synthesis with standard cell libraries</a:t>
            </a:r>
            <a:endParaRPr lang="en-US" sz="1600" dirty="0"/>
          </a:p>
          <a:p>
            <a:pPr algn="l" marL="342900" indent="-342900">
              <a:buSzPct val="100000"/>
              <a:buChar char="•"/>
            </a:pPr>
            <a:r>
              <a:rPr lang="en-US" sz="1400" dirty="0">
                <a:solidFill>
                  <a:srgbClr val="333333"/>
                </a:solidFill>
              </a:rPr>
              <a:t>FPGA Implementation</a:t>
            </a:r>
            <a:endParaRPr lang="en-US" sz="1600" dirty="0"/>
          </a:p>
          <a:p>
            <a:pPr algn="l" lvl="1" indent="0" marL="0">
              <a:buNone/>
            </a:pPr>
            <a:r>
              <a:rPr lang="en-US" sz="1200" dirty="0">
                <a:solidFill>
                  <a:srgbClr val="333333"/>
                </a:solidFill>
              </a:rPr>
              <a:t>Complete FPGA prototyping and hardware validation</a:t>
            </a:r>
            <a:endParaRPr lang="en-US" sz="1600" dirty="0"/>
          </a:p>
          <a:p>
            <a:pPr algn="l" marL="342900" indent="-342900">
              <a:buSzPct val="100000"/>
              <a:buChar char="•"/>
            </a:pPr>
            <a:r>
              <a:rPr lang="en-US" sz="1400" dirty="0">
                <a:solidFill>
                  <a:srgbClr val="333333"/>
                </a:solidFill>
              </a:rPr>
              <a:t>Performance Analysis</a:t>
            </a:r>
            <a:endParaRPr lang="en-US" sz="1600" dirty="0"/>
          </a:p>
          <a:p>
            <a:pPr algn="l" lvl="1" indent="0" marL="0">
              <a:buNone/>
            </a:pPr>
            <a:r>
              <a:rPr lang="en-US" sz="1200" dirty="0">
                <a:solidFill>
                  <a:srgbClr val="333333"/>
                </a:solidFill>
              </a:rPr>
              <a:t>Timing analysis, power estimation, and area optimization</a:t>
            </a:r>
            <a:endParaRPr lang="en-US" sz="1600" dirty="0"/>
          </a:p>
          <a:p>
            <a:pPr algn="l" marL="342900" indent="-342900">
              <a:buSzPct val="100000"/>
              <a:buChar char="•"/>
            </a:pPr>
            <a:r>
              <a:rPr lang="en-US" sz="1400" dirty="0">
                <a:solidFill>
                  <a:srgbClr val="333333"/>
                </a:solidFill>
              </a:rPr>
              <a:t>Frontend Integration</a:t>
            </a:r>
            <a:endParaRPr lang="en-US" sz="1600" dirty="0"/>
          </a:p>
          <a:p>
            <a:pPr algn="l" lvl="1" indent="0" marL="0">
              <a:buNone/>
            </a:pPr>
            <a:r>
              <a:rPr lang="en-US" sz="1200" dirty="0">
                <a:solidFill>
                  <a:srgbClr val="333333"/>
                </a:solidFill>
              </a:rPr>
              <a:t>Integration with FP16 MAC units and CNN accelerator architecture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2800" b="1" dirty="0">
                <a:solidFill>
                  <a:srgbClr val="1E3A5F"/>
                </a:solidFill>
              </a:rPr>
              <a:t>Project Timeline &amp; Milestones</a:t>
            </a:r>
            <a:endParaRPr lang="en-US" sz="2800" dirty="0"/>
          </a:p>
        </p:txBody>
      </p:sp>
      <p:sp>
        <p:nvSpPr>
          <p:cNvPr id="6" name="Shape 4"/>
          <p:cNvSpPr/>
          <p:nvPr/>
        </p:nvSpPr>
        <p:spPr>
          <a:xfrm>
            <a:off x="457200" y="1097280"/>
            <a:ext cx="1828800" cy="548640"/>
          </a:xfrm>
          <a:prstGeom prst="rect">
            <a:avLst/>
          </a:prstGeom>
          <a:solidFill>
            <a:srgbClr val="1F4788"/>
          </a:solidFill>
          <a:ln/>
        </p:spPr>
      </p:sp>
      <p:sp>
        <p:nvSpPr>
          <p:cNvPr id="7" name="Text 5"/>
          <p:cNvSpPr/>
          <p:nvPr/>
        </p:nvSpPr>
        <p:spPr>
          <a:xfrm>
            <a:off x="457200" y="1097280"/>
            <a:ext cx="1828800" cy="548640"/>
          </a:xfrm>
          <a:prstGeom prst="rect">
            <a:avLst/>
          </a:prstGeom>
          <a:noFill/>
          <a:ln/>
        </p:spPr>
        <p:txBody>
          <a:bodyPr wrap="square" rtlCol="0" anchor="ctr"/>
          <a:lstStyle/>
          <a:p>
            <a:pPr algn="ctr" indent="0" marL="0">
              <a:buNone/>
            </a:pPr>
            <a:r>
              <a:rPr lang="en-US" sz="1200" b="1" dirty="0">
                <a:solidFill>
                  <a:srgbClr val="FFFFFF"/>
                </a:solidFill>
              </a:rPr>
              <a:t>Phase 1</a:t>
            </a:r>
            <a:endParaRPr lang="en-US" sz="1200" dirty="0"/>
          </a:p>
          <a:p>
            <a:pPr algn="ctr" indent="0" marL="0">
              <a:buNone/>
            </a:pPr>
            <a:r>
              <a:rPr lang="en-US" sz="1200" b="1" dirty="0">
                <a:solidFill>
                  <a:srgbClr val="FFFFFF"/>
                </a:solidFill>
              </a:rPr>
              <a:t>2 months</a:t>
            </a:r>
            <a:endParaRPr lang="en-US" sz="1200" dirty="0"/>
          </a:p>
        </p:txBody>
      </p:sp>
      <p:sp>
        <p:nvSpPr>
          <p:cNvPr id="8" name="Shape 6"/>
          <p:cNvSpPr/>
          <p:nvPr/>
        </p:nvSpPr>
        <p:spPr>
          <a:xfrm>
            <a:off x="2468880" y="1097280"/>
            <a:ext cx="6217920" cy="548640"/>
          </a:xfrm>
          <a:prstGeom prst="rect">
            <a:avLst/>
          </a:prstGeom>
          <a:solidFill>
            <a:srgbClr val="FFFFFF"/>
          </a:solidFill>
          <a:ln w="19050">
            <a:solidFill>
              <a:srgbClr val="1F4788"/>
            </a:solidFill>
            <a:prstDash val="solid"/>
          </a:ln>
        </p:spPr>
      </p:sp>
      <p:sp>
        <p:nvSpPr>
          <p:cNvPr id="9" name="Text 7"/>
          <p:cNvSpPr/>
          <p:nvPr/>
        </p:nvSpPr>
        <p:spPr>
          <a:xfrm>
            <a:off x="2560320" y="1097280"/>
            <a:ext cx="6035040" cy="548640"/>
          </a:xfrm>
          <a:prstGeom prst="rect">
            <a:avLst/>
          </a:prstGeom>
          <a:noFill/>
          <a:ln/>
        </p:spPr>
        <p:txBody>
          <a:bodyPr wrap="square" rtlCol="0" anchor="ctr"/>
          <a:lstStyle/>
          <a:p>
            <a:pPr algn="l" indent="0" marL="0">
              <a:buNone/>
            </a:pPr>
            <a:r>
              <a:rPr lang="en-US" sz="1200" dirty="0">
                <a:solidFill>
                  <a:srgbClr val="333333"/>
                </a:solidFill>
              </a:rPr>
              <a:t>Literature Review &amp; Algorithm Design</a:t>
            </a:r>
            <a:endParaRPr lang="en-US" sz="1200" dirty="0"/>
          </a:p>
        </p:txBody>
      </p:sp>
      <p:sp>
        <p:nvSpPr>
          <p:cNvPr id="10" name="Shape 8"/>
          <p:cNvSpPr/>
          <p:nvPr/>
        </p:nvSpPr>
        <p:spPr>
          <a:xfrm>
            <a:off x="457200" y="1719072"/>
            <a:ext cx="1828800" cy="548640"/>
          </a:xfrm>
          <a:prstGeom prst="rect">
            <a:avLst/>
          </a:prstGeom>
          <a:solidFill>
            <a:srgbClr val="1F4788"/>
          </a:solidFill>
          <a:ln/>
        </p:spPr>
      </p:sp>
      <p:sp>
        <p:nvSpPr>
          <p:cNvPr id="11" name="Text 9"/>
          <p:cNvSpPr/>
          <p:nvPr/>
        </p:nvSpPr>
        <p:spPr>
          <a:xfrm>
            <a:off x="457200" y="1719072"/>
            <a:ext cx="1828800" cy="548640"/>
          </a:xfrm>
          <a:prstGeom prst="rect">
            <a:avLst/>
          </a:prstGeom>
          <a:noFill/>
          <a:ln/>
        </p:spPr>
        <p:txBody>
          <a:bodyPr wrap="square" rtlCol="0" anchor="ctr"/>
          <a:lstStyle/>
          <a:p>
            <a:pPr algn="ctr" indent="0" marL="0">
              <a:buNone/>
            </a:pPr>
            <a:r>
              <a:rPr lang="en-US" sz="1200" b="1" dirty="0">
                <a:solidFill>
                  <a:srgbClr val="FFFFFF"/>
                </a:solidFill>
              </a:rPr>
              <a:t>Phase 2</a:t>
            </a:r>
            <a:endParaRPr lang="en-US" sz="1200" dirty="0"/>
          </a:p>
          <a:p>
            <a:pPr algn="ctr" indent="0" marL="0">
              <a:buNone/>
            </a:pPr>
            <a:r>
              <a:rPr lang="en-US" sz="1200" b="1" dirty="0">
                <a:solidFill>
                  <a:srgbClr val="FFFFFF"/>
                </a:solidFill>
              </a:rPr>
              <a:t>3 months</a:t>
            </a:r>
            <a:endParaRPr lang="en-US" sz="1200" dirty="0"/>
          </a:p>
        </p:txBody>
      </p:sp>
      <p:sp>
        <p:nvSpPr>
          <p:cNvPr id="12" name="Shape 10"/>
          <p:cNvSpPr/>
          <p:nvPr/>
        </p:nvSpPr>
        <p:spPr>
          <a:xfrm>
            <a:off x="2468880" y="1719072"/>
            <a:ext cx="6217920" cy="548640"/>
          </a:xfrm>
          <a:prstGeom prst="rect">
            <a:avLst/>
          </a:prstGeom>
          <a:solidFill>
            <a:srgbClr val="FFFFFF"/>
          </a:solidFill>
          <a:ln w="19050">
            <a:solidFill>
              <a:srgbClr val="1F4788"/>
            </a:solidFill>
            <a:prstDash val="solid"/>
          </a:ln>
        </p:spPr>
      </p:sp>
      <p:sp>
        <p:nvSpPr>
          <p:cNvPr id="13" name="Text 11"/>
          <p:cNvSpPr/>
          <p:nvPr/>
        </p:nvSpPr>
        <p:spPr>
          <a:xfrm>
            <a:off x="2560320" y="1719072"/>
            <a:ext cx="6035040" cy="548640"/>
          </a:xfrm>
          <a:prstGeom prst="rect">
            <a:avLst/>
          </a:prstGeom>
          <a:noFill/>
          <a:ln/>
        </p:spPr>
        <p:txBody>
          <a:bodyPr wrap="square" rtlCol="0" anchor="ctr"/>
          <a:lstStyle/>
          <a:p>
            <a:pPr algn="l" indent="0" marL="0">
              <a:buNone/>
            </a:pPr>
            <a:r>
              <a:rPr lang="en-US" sz="1200" dirty="0">
                <a:solidFill>
                  <a:srgbClr val="333333"/>
                </a:solidFill>
              </a:rPr>
              <a:t>RTL Design &amp; Simulation</a:t>
            </a:r>
            <a:endParaRPr lang="en-US" sz="1200" dirty="0"/>
          </a:p>
        </p:txBody>
      </p:sp>
      <p:sp>
        <p:nvSpPr>
          <p:cNvPr id="14" name="Shape 12"/>
          <p:cNvSpPr/>
          <p:nvPr/>
        </p:nvSpPr>
        <p:spPr>
          <a:xfrm>
            <a:off x="457200" y="2340864"/>
            <a:ext cx="1828800" cy="548640"/>
          </a:xfrm>
          <a:prstGeom prst="rect">
            <a:avLst/>
          </a:prstGeom>
          <a:solidFill>
            <a:srgbClr val="1F4788"/>
          </a:solidFill>
          <a:ln/>
        </p:spPr>
      </p:sp>
      <p:sp>
        <p:nvSpPr>
          <p:cNvPr id="15" name="Text 13"/>
          <p:cNvSpPr/>
          <p:nvPr/>
        </p:nvSpPr>
        <p:spPr>
          <a:xfrm>
            <a:off x="457200" y="2340864"/>
            <a:ext cx="1828800" cy="548640"/>
          </a:xfrm>
          <a:prstGeom prst="rect">
            <a:avLst/>
          </a:prstGeom>
          <a:noFill/>
          <a:ln/>
        </p:spPr>
        <p:txBody>
          <a:bodyPr wrap="square" rtlCol="0" anchor="ctr"/>
          <a:lstStyle/>
          <a:p>
            <a:pPr algn="ctr" indent="0" marL="0">
              <a:buNone/>
            </a:pPr>
            <a:r>
              <a:rPr lang="en-US" sz="1200" b="1" dirty="0">
                <a:solidFill>
                  <a:srgbClr val="FFFFFF"/>
                </a:solidFill>
              </a:rPr>
              <a:t>Phase 3</a:t>
            </a:r>
            <a:endParaRPr lang="en-US" sz="1200" dirty="0"/>
          </a:p>
          <a:p>
            <a:pPr algn="ctr" indent="0" marL="0">
              <a:buNone/>
            </a:pPr>
            <a:r>
              <a:rPr lang="en-US" sz="1200" b="1" dirty="0">
                <a:solidFill>
                  <a:srgbClr val="FFFFFF"/>
                </a:solidFill>
              </a:rPr>
              <a:t>2 months</a:t>
            </a:r>
            <a:endParaRPr lang="en-US" sz="1200" dirty="0"/>
          </a:p>
        </p:txBody>
      </p:sp>
      <p:sp>
        <p:nvSpPr>
          <p:cNvPr id="16" name="Shape 14"/>
          <p:cNvSpPr/>
          <p:nvPr/>
        </p:nvSpPr>
        <p:spPr>
          <a:xfrm>
            <a:off x="2468880" y="2340864"/>
            <a:ext cx="6217920" cy="548640"/>
          </a:xfrm>
          <a:prstGeom prst="rect">
            <a:avLst/>
          </a:prstGeom>
          <a:solidFill>
            <a:srgbClr val="FFFFFF"/>
          </a:solidFill>
          <a:ln w="19050">
            <a:solidFill>
              <a:srgbClr val="1F4788"/>
            </a:solidFill>
            <a:prstDash val="solid"/>
          </a:ln>
        </p:spPr>
      </p:sp>
      <p:sp>
        <p:nvSpPr>
          <p:cNvPr id="17" name="Text 15"/>
          <p:cNvSpPr/>
          <p:nvPr/>
        </p:nvSpPr>
        <p:spPr>
          <a:xfrm>
            <a:off x="2560320" y="2340864"/>
            <a:ext cx="6035040" cy="548640"/>
          </a:xfrm>
          <a:prstGeom prst="rect">
            <a:avLst/>
          </a:prstGeom>
          <a:noFill/>
          <a:ln/>
        </p:spPr>
        <p:txBody>
          <a:bodyPr wrap="square" rtlCol="0" anchor="ctr"/>
          <a:lstStyle/>
          <a:p>
            <a:pPr algn="l" indent="0" marL="0">
              <a:buNone/>
            </a:pPr>
            <a:r>
              <a:rPr lang="en-US" sz="1200" dirty="0">
                <a:solidFill>
                  <a:srgbClr val="333333"/>
                </a:solidFill>
              </a:rPr>
              <a:t>FPGA Implementation &amp; Testing</a:t>
            </a:r>
            <a:endParaRPr lang="en-US" sz="1200" dirty="0"/>
          </a:p>
        </p:txBody>
      </p:sp>
      <p:sp>
        <p:nvSpPr>
          <p:cNvPr id="18" name="Shape 16"/>
          <p:cNvSpPr/>
          <p:nvPr/>
        </p:nvSpPr>
        <p:spPr>
          <a:xfrm>
            <a:off x="457200" y="2962656"/>
            <a:ext cx="1828800" cy="548640"/>
          </a:xfrm>
          <a:prstGeom prst="rect">
            <a:avLst/>
          </a:prstGeom>
          <a:solidFill>
            <a:srgbClr val="1F4788"/>
          </a:solidFill>
          <a:ln/>
        </p:spPr>
      </p:sp>
      <p:sp>
        <p:nvSpPr>
          <p:cNvPr id="19" name="Text 17"/>
          <p:cNvSpPr/>
          <p:nvPr/>
        </p:nvSpPr>
        <p:spPr>
          <a:xfrm>
            <a:off x="457200" y="2962656"/>
            <a:ext cx="1828800" cy="548640"/>
          </a:xfrm>
          <a:prstGeom prst="rect">
            <a:avLst/>
          </a:prstGeom>
          <a:noFill/>
          <a:ln/>
        </p:spPr>
        <p:txBody>
          <a:bodyPr wrap="square" rtlCol="0" anchor="ctr"/>
          <a:lstStyle/>
          <a:p>
            <a:pPr algn="ctr" indent="0" marL="0">
              <a:buNone/>
            </a:pPr>
            <a:r>
              <a:rPr lang="en-US" sz="1200" b="1" dirty="0">
                <a:solidFill>
                  <a:srgbClr val="FFFFFF"/>
                </a:solidFill>
              </a:rPr>
              <a:t>Phase 4</a:t>
            </a:r>
            <a:endParaRPr lang="en-US" sz="1200" dirty="0"/>
          </a:p>
          <a:p>
            <a:pPr algn="ctr" indent="0" marL="0">
              <a:buNone/>
            </a:pPr>
            <a:r>
              <a:rPr lang="en-US" sz="1200" b="1" dirty="0">
                <a:solidFill>
                  <a:srgbClr val="FFFFFF"/>
                </a:solidFill>
              </a:rPr>
              <a:t>2 months</a:t>
            </a:r>
            <a:endParaRPr lang="en-US" sz="1200" dirty="0"/>
          </a:p>
        </p:txBody>
      </p:sp>
      <p:sp>
        <p:nvSpPr>
          <p:cNvPr id="20" name="Shape 18"/>
          <p:cNvSpPr/>
          <p:nvPr/>
        </p:nvSpPr>
        <p:spPr>
          <a:xfrm>
            <a:off x="2468880" y="2962656"/>
            <a:ext cx="6217920" cy="548640"/>
          </a:xfrm>
          <a:prstGeom prst="rect">
            <a:avLst/>
          </a:prstGeom>
          <a:solidFill>
            <a:srgbClr val="FFFFFF"/>
          </a:solidFill>
          <a:ln w="19050">
            <a:solidFill>
              <a:srgbClr val="1F4788"/>
            </a:solidFill>
            <a:prstDash val="solid"/>
          </a:ln>
        </p:spPr>
      </p:sp>
      <p:sp>
        <p:nvSpPr>
          <p:cNvPr id="21" name="Text 19"/>
          <p:cNvSpPr/>
          <p:nvPr/>
        </p:nvSpPr>
        <p:spPr>
          <a:xfrm>
            <a:off x="2560320" y="2962656"/>
            <a:ext cx="6035040" cy="548640"/>
          </a:xfrm>
          <a:prstGeom prst="rect">
            <a:avLst/>
          </a:prstGeom>
          <a:noFill/>
          <a:ln/>
        </p:spPr>
        <p:txBody>
          <a:bodyPr wrap="square" rtlCol="0" anchor="ctr"/>
          <a:lstStyle/>
          <a:p>
            <a:pPr algn="l" indent="0" marL="0">
              <a:buNone/>
            </a:pPr>
            <a:r>
              <a:rPr lang="en-US" sz="1200" dirty="0">
                <a:solidFill>
                  <a:srgbClr val="333333"/>
                </a:solidFill>
              </a:rPr>
              <a:t>ASIC Synthesis &amp; Optimization</a:t>
            </a:r>
            <a:endParaRPr lang="en-US" sz="1200" dirty="0"/>
          </a:p>
        </p:txBody>
      </p:sp>
      <p:sp>
        <p:nvSpPr>
          <p:cNvPr id="22" name="Shape 20"/>
          <p:cNvSpPr/>
          <p:nvPr/>
        </p:nvSpPr>
        <p:spPr>
          <a:xfrm>
            <a:off x="457200" y="3584448"/>
            <a:ext cx="1828800" cy="548640"/>
          </a:xfrm>
          <a:prstGeom prst="rect">
            <a:avLst/>
          </a:prstGeom>
          <a:solidFill>
            <a:srgbClr val="1F4788"/>
          </a:solidFill>
          <a:ln/>
        </p:spPr>
      </p:sp>
      <p:sp>
        <p:nvSpPr>
          <p:cNvPr id="23" name="Text 21"/>
          <p:cNvSpPr/>
          <p:nvPr/>
        </p:nvSpPr>
        <p:spPr>
          <a:xfrm>
            <a:off x="457200" y="3584448"/>
            <a:ext cx="1828800" cy="548640"/>
          </a:xfrm>
          <a:prstGeom prst="rect">
            <a:avLst/>
          </a:prstGeom>
          <a:noFill/>
          <a:ln/>
        </p:spPr>
        <p:txBody>
          <a:bodyPr wrap="square" rtlCol="0" anchor="ctr"/>
          <a:lstStyle/>
          <a:p>
            <a:pPr algn="ctr" indent="0" marL="0">
              <a:buNone/>
            </a:pPr>
            <a:r>
              <a:rPr lang="en-US" sz="1200" b="1" dirty="0">
                <a:solidFill>
                  <a:srgbClr val="FFFFFF"/>
                </a:solidFill>
              </a:rPr>
              <a:t>Phase 5</a:t>
            </a:r>
            <a:endParaRPr lang="en-US" sz="1200" dirty="0"/>
          </a:p>
          <a:p>
            <a:pPr algn="ctr" indent="0" marL="0">
              <a:buNone/>
            </a:pPr>
            <a:r>
              <a:rPr lang="en-US" sz="1200" b="1" dirty="0">
                <a:solidFill>
                  <a:srgbClr val="FFFFFF"/>
                </a:solidFill>
              </a:rPr>
              <a:t>2 months</a:t>
            </a:r>
            <a:endParaRPr lang="en-US" sz="1200" dirty="0"/>
          </a:p>
        </p:txBody>
      </p:sp>
      <p:sp>
        <p:nvSpPr>
          <p:cNvPr id="24" name="Shape 22"/>
          <p:cNvSpPr/>
          <p:nvPr/>
        </p:nvSpPr>
        <p:spPr>
          <a:xfrm>
            <a:off x="2468880" y="3584448"/>
            <a:ext cx="6217920" cy="548640"/>
          </a:xfrm>
          <a:prstGeom prst="rect">
            <a:avLst/>
          </a:prstGeom>
          <a:solidFill>
            <a:srgbClr val="FFFFFF"/>
          </a:solidFill>
          <a:ln w="19050">
            <a:solidFill>
              <a:srgbClr val="1F4788"/>
            </a:solidFill>
            <a:prstDash val="solid"/>
          </a:ln>
        </p:spPr>
      </p:sp>
      <p:sp>
        <p:nvSpPr>
          <p:cNvPr id="25" name="Text 23"/>
          <p:cNvSpPr/>
          <p:nvPr/>
        </p:nvSpPr>
        <p:spPr>
          <a:xfrm>
            <a:off x="2560320" y="3584448"/>
            <a:ext cx="6035040" cy="548640"/>
          </a:xfrm>
          <a:prstGeom prst="rect">
            <a:avLst/>
          </a:prstGeom>
          <a:noFill/>
          <a:ln/>
        </p:spPr>
        <p:txBody>
          <a:bodyPr wrap="square" rtlCol="0" anchor="ctr"/>
          <a:lstStyle/>
          <a:p>
            <a:pPr algn="l" indent="0" marL="0">
              <a:buNone/>
            </a:pPr>
            <a:r>
              <a:rPr lang="en-US" sz="1200" dirty="0">
                <a:solidFill>
                  <a:srgbClr val="333333"/>
                </a:solidFill>
              </a:rPr>
              <a:t>CNN Integration &amp; Performance Analysis</a:t>
            </a:r>
            <a:endParaRPr lang="en-US" sz="1200" dirty="0"/>
          </a:p>
        </p:txBody>
      </p:sp>
      <p:sp>
        <p:nvSpPr>
          <p:cNvPr id="26" name="Shape 24"/>
          <p:cNvSpPr/>
          <p:nvPr/>
        </p:nvSpPr>
        <p:spPr>
          <a:xfrm>
            <a:off x="457200" y="4206240"/>
            <a:ext cx="1828800" cy="548640"/>
          </a:xfrm>
          <a:prstGeom prst="rect">
            <a:avLst/>
          </a:prstGeom>
          <a:solidFill>
            <a:srgbClr val="1F4788"/>
          </a:solidFill>
          <a:ln/>
        </p:spPr>
      </p:sp>
      <p:sp>
        <p:nvSpPr>
          <p:cNvPr id="27" name="Text 25"/>
          <p:cNvSpPr/>
          <p:nvPr/>
        </p:nvSpPr>
        <p:spPr>
          <a:xfrm>
            <a:off x="457200" y="4206240"/>
            <a:ext cx="1828800" cy="548640"/>
          </a:xfrm>
          <a:prstGeom prst="rect">
            <a:avLst/>
          </a:prstGeom>
          <a:noFill/>
          <a:ln/>
        </p:spPr>
        <p:txBody>
          <a:bodyPr wrap="square" rtlCol="0" anchor="ctr"/>
          <a:lstStyle/>
          <a:p>
            <a:pPr algn="ctr" indent="0" marL="0">
              <a:buNone/>
            </a:pPr>
            <a:r>
              <a:rPr lang="en-US" sz="1200" b="1" dirty="0">
                <a:solidFill>
                  <a:srgbClr val="FFFFFF"/>
                </a:solidFill>
              </a:rPr>
              <a:t>Phase 6</a:t>
            </a:r>
            <a:endParaRPr lang="en-US" sz="1200" dirty="0"/>
          </a:p>
          <a:p>
            <a:pPr algn="ctr" indent="0" marL="0">
              <a:buNone/>
            </a:pPr>
            <a:r>
              <a:rPr lang="en-US" sz="1200" b="1" dirty="0">
                <a:solidFill>
                  <a:srgbClr val="FFFFFF"/>
                </a:solidFill>
              </a:rPr>
              <a:t>1 month</a:t>
            </a:r>
            <a:endParaRPr lang="en-US" sz="1200" dirty="0"/>
          </a:p>
        </p:txBody>
      </p:sp>
      <p:sp>
        <p:nvSpPr>
          <p:cNvPr id="28" name="Shape 26"/>
          <p:cNvSpPr/>
          <p:nvPr/>
        </p:nvSpPr>
        <p:spPr>
          <a:xfrm>
            <a:off x="2468880" y="4206240"/>
            <a:ext cx="6217920" cy="548640"/>
          </a:xfrm>
          <a:prstGeom prst="rect">
            <a:avLst/>
          </a:prstGeom>
          <a:solidFill>
            <a:srgbClr val="FFFFFF"/>
          </a:solidFill>
          <a:ln w="19050">
            <a:solidFill>
              <a:srgbClr val="1F4788"/>
            </a:solidFill>
            <a:prstDash val="solid"/>
          </a:ln>
        </p:spPr>
      </p:sp>
      <p:sp>
        <p:nvSpPr>
          <p:cNvPr id="29" name="Text 27"/>
          <p:cNvSpPr/>
          <p:nvPr/>
        </p:nvSpPr>
        <p:spPr>
          <a:xfrm>
            <a:off x="2560320" y="4206240"/>
            <a:ext cx="6035040" cy="548640"/>
          </a:xfrm>
          <a:prstGeom prst="rect">
            <a:avLst/>
          </a:prstGeom>
          <a:noFill/>
          <a:ln/>
        </p:spPr>
        <p:txBody>
          <a:bodyPr wrap="square" rtlCol="0" anchor="ctr"/>
          <a:lstStyle/>
          <a:p>
            <a:pPr algn="l" indent="0" marL="0">
              <a:buNone/>
            </a:pPr>
            <a:r>
              <a:rPr lang="en-US" sz="1200" dirty="0">
                <a:solidFill>
                  <a:srgbClr val="333333"/>
                </a:solidFill>
              </a:rPr>
              <a:t>Documentation &amp; Paper Writing</a:t>
            </a:r>
            <a:endParaRPr lang="en-US" sz="1200" dirty="0"/>
          </a:p>
        </p:txBody>
      </p:sp>
      <p:sp>
        <p:nvSpPr>
          <p:cNvPr id="30" name="Shape 28"/>
          <p:cNvSpPr/>
          <p:nvPr/>
        </p:nvSpPr>
        <p:spPr>
          <a:xfrm>
            <a:off x="457200" y="4572000"/>
            <a:ext cx="8229600" cy="365760"/>
          </a:xfrm>
          <a:prstGeom prst="rect">
            <a:avLst/>
          </a:prstGeom>
          <a:solidFill>
            <a:srgbClr val="C1272D"/>
          </a:solidFill>
          <a:ln/>
        </p:spPr>
      </p:sp>
      <p:sp>
        <p:nvSpPr>
          <p:cNvPr id="31" name="Text 29"/>
          <p:cNvSpPr/>
          <p:nvPr/>
        </p:nvSpPr>
        <p:spPr>
          <a:xfrm>
            <a:off x="457200" y="4572000"/>
            <a:ext cx="8229600" cy="365760"/>
          </a:xfrm>
          <a:prstGeom prst="rect">
            <a:avLst/>
          </a:prstGeom>
          <a:noFill/>
          <a:ln/>
        </p:spPr>
        <p:txBody>
          <a:bodyPr wrap="square" rtlCol="0" anchor="ctr"/>
          <a:lstStyle/>
          <a:p>
            <a:pPr algn="ctr" indent="0" marL="0">
              <a:buNone/>
            </a:pPr>
            <a:r>
              <a:rPr lang="en-US" sz="1300" b="1" dirty="0">
                <a:solidFill>
                  <a:srgbClr val="FFFFFF"/>
                </a:solidFill>
              </a:rPr>
              <a:t>Total Duration: 12 months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3200" b="1" dirty="0">
                <a:solidFill>
                  <a:srgbClr val="1E3A5F"/>
                </a:solidFill>
              </a:rPr>
              <a:t>Expected Results Summary</a:t>
            </a:r>
            <a:endParaRPr lang="en-US" sz="3200" dirty="0"/>
          </a:p>
        </p:txBody>
      </p:sp>
      <p:sp>
        <p:nvSpPr>
          <p:cNvPr id="6" name="Shape 4"/>
          <p:cNvSpPr/>
          <p:nvPr/>
        </p:nvSpPr>
        <p:spPr>
          <a:xfrm>
            <a:off x="457200" y="1097280"/>
            <a:ext cx="3931920" cy="914400"/>
          </a:xfrm>
          <a:prstGeom prst="rect">
            <a:avLst/>
          </a:prstGeom>
          <a:solidFill>
            <a:srgbClr val="C1272D"/>
          </a:solidFill>
          <a:ln/>
        </p:spPr>
      </p:sp>
      <p:sp>
        <p:nvSpPr>
          <p:cNvPr id="7" name="Text 5"/>
          <p:cNvSpPr/>
          <p:nvPr/>
        </p:nvSpPr>
        <p:spPr>
          <a:xfrm>
            <a:off x="457200" y="1097280"/>
            <a:ext cx="3931920" cy="914400"/>
          </a:xfrm>
          <a:prstGeom prst="rect">
            <a:avLst/>
          </a:prstGeom>
          <a:noFill/>
          <a:ln/>
        </p:spPr>
        <p:txBody>
          <a:bodyPr wrap="square" rtlCol="0" anchor="ctr"/>
          <a:lstStyle/>
          <a:p>
            <a:pPr algn="ctr" indent="0" marL="0">
              <a:buNone/>
            </a:pPr>
            <a:r>
              <a:rPr lang="en-US" sz="2000" b="1" dirty="0">
                <a:solidFill>
                  <a:srgbClr val="FFFFFF"/>
                </a:solidFill>
              </a:rPr>
              <a:t>15-25%</a:t>
            </a:r>
            <a:endParaRPr lang="en-US" sz="2000" dirty="0"/>
          </a:p>
          <a:p>
            <a:pPr algn="ctr" indent="0" marL="0">
              <a:buNone/>
            </a:pPr>
            <a:r>
              <a:rPr lang="en-US" sz="2000" b="1" dirty="0">
                <a:solidFill>
                  <a:srgbClr val="FFFFFF"/>
                </a:solidFill>
              </a:rPr>
              <a:t>Lower Delay</a:t>
            </a:r>
            <a:endParaRPr lang="en-US" sz="2000" dirty="0"/>
          </a:p>
        </p:txBody>
      </p:sp>
      <p:sp>
        <p:nvSpPr>
          <p:cNvPr id="8" name="Shape 6"/>
          <p:cNvSpPr/>
          <p:nvPr/>
        </p:nvSpPr>
        <p:spPr>
          <a:xfrm>
            <a:off x="4754880" y="1097280"/>
            <a:ext cx="3931920" cy="914400"/>
          </a:xfrm>
          <a:prstGeom prst="rect">
            <a:avLst/>
          </a:prstGeom>
          <a:solidFill>
            <a:srgbClr val="1F4788"/>
          </a:solidFill>
          <a:ln/>
        </p:spPr>
      </p:sp>
      <p:sp>
        <p:nvSpPr>
          <p:cNvPr id="9" name="Text 7"/>
          <p:cNvSpPr/>
          <p:nvPr/>
        </p:nvSpPr>
        <p:spPr>
          <a:xfrm>
            <a:off x="4754880" y="1097280"/>
            <a:ext cx="3931920" cy="914400"/>
          </a:xfrm>
          <a:prstGeom prst="rect">
            <a:avLst/>
          </a:prstGeom>
          <a:noFill/>
          <a:ln/>
        </p:spPr>
        <p:txBody>
          <a:bodyPr wrap="square" rtlCol="0" anchor="ctr"/>
          <a:lstStyle/>
          <a:p>
            <a:pPr algn="ctr" indent="0" marL="0">
              <a:buNone/>
            </a:pPr>
            <a:r>
              <a:rPr lang="en-US" sz="2000" b="1" dirty="0">
                <a:solidFill>
                  <a:srgbClr val="FFFFFF"/>
                </a:solidFill>
              </a:rPr>
              <a:t>20-30%</a:t>
            </a:r>
            <a:endParaRPr lang="en-US" sz="2000" dirty="0"/>
          </a:p>
          <a:p>
            <a:pPr algn="ctr" indent="0" marL="0">
              <a:buNone/>
            </a:pPr>
            <a:r>
              <a:rPr lang="en-US" sz="2000" b="1" dirty="0">
                <a:solidFill>
                  <a:srgbClr val="FFFFFF"/>
                </a:solidFill>
              </a:rPr>
              <a:t>Reduced Power</a:t>
            </a:r>
            <a:endParaRPr lang="en-US" sz="2000" dirty="0"/>
          </a:p>
        </p:txBody>
      </p:sp>
      <p:sp>
        <p:nvSpPr>
          <p:cNvPr id="10" name="Shape 8"/>
          <p:cNvSpPr/>
          <p:nvPr/>
        </p:nvSpPr>
        <p:spPr>
          <a:xfrm>
            <a:off x="457200" y="2194560"/>
            <a:ext cx="3931920" cy="914400"/>
          </a:xfrm>
          <a:prstGeom prst="rect">
            <a:avLst/>
          </a:prstGeom>
          <a:solidFill>
            <a:srgbClr val="1E3A5F"/>
          </a:solidFill>
          <a:ln/>
        </p:spPr>
      </p:sp>
      <p:sp>
        <p:nvSpPr>
          <p:cNvPr id="11" name="Text 9"/>
          <p:cNvSpPr/>
          <p:nvPr/>
        </p:nvSpPr>
        <p:spPr>
          <a:xfrm>
            <a:off x="457200" y="2194560"/>
            <a:ext cx="3931920" cy="914400"/>
          </a:xfrm>
          <a:prstGeom prst="rect">
            <a:avLst/>
          </a:prstGeom>
          <a:noFill/>
          <a:ln/>
        </p:spPr>
        <p:txBody>
          <a:bodyPr wrap="square" rtlCol="0" anchor="ctr"/>
          <a:lstStyle/>
          <a:p>
            <a:pPr algn="ctr" indent="0" marL="0">
              <a:buNone/>
            </a:pPr>
            <a:r>
              <a:rPr lang="en-US" sz="2000" b="1" dirty="0">
                <a:solidFill>
                  <a:srgbClr val="FFFFFF"/>
                </a:solidFill>
              </a:rPr>
              <a:t>Optimized</a:t>
            </a:r>
            <a:endParaRPr lang="en-US" sz="2000" dirty="0"/>
          </a:p>
          <a:p>
            <a:pPr algn="ctr" indent="0" marL="0">
              <a:buNone/>
            </a:pPr>
            <a:r>
              <a:rPr lang="en-US" sz="2000" b="1" dirty="0">
                <a:solidFill>
                  <a:srgbClr val="FFFFFF"/>
                </a:solidFill>
              </a:rPr>
              <a:t>Hardware Area</a:t>
            </a:r>
            <a:endParaRPr lang="en-US" sz="2000" dirty="0"/>
          </a:p>
        </p:txBody>
      </p:sp>
      <p:sp>
        <p:nvSpPr>
          <p:cNvPr id="12" name="Shape 10"/>
          <p:cNvSpPr/>
          <p:nvPr/>
        </p:nvSpPr>
        <p:spPr>
          <a:xfrm>
            <a:off x="4754880" y="2194560"/>
            <a:ext cx="3931920" cy="914400"/>
          </a:xfrm>
          <a:prstGeom prst="rect">
            <a:avLst/>
          </a:prstGeom>
          <a:solidFill>
            <a:srgbClr val="C1272D"/>
          </a:solidFill>
          <a:ln/>
        </p:spPr>
      </p:sp>
      <p:sp>
        <p:nvSpPr>
          <p:cNvPr id="13" name="Text 11"/>
          <p:cNvSpPr/>
          <p:nvPr/>
        </p:nvSpPr>
        <p:spPr>
          <a:xfrm>
            <a:off x="4754880" y="2194560"/>
            <a:ext cx="3931920" cy="914400"/>
          </a:xfrm>
          <a:prstGeom prst="rect">
            <a:avLst/>
          </a:prstGeom>
          <a:noFill/>
          <a:ln/>
        </p:spPr>
        <p:txBody>
          <a:bodyPr wrap="square" rtlCol="0" anchor="ctr"/>
          <a:lstStyle/>
          <a:p>
            <a:pPr algn="ctr" indent="0" marL="0">
              <a:buNone/>
            </a:pPr>
            <a:r>
              <a:rPr lang="en-US" sz="2000" b="1" dirty="0">
                <a:solidFill>
                  <a:srgbClr val="FFFFFF"/>
                </a:solidFill>
              </a:rPr>
              <a:t>Enhanced</a:t>
            </a:r>
            <a:endParaRPr lang="en-US" sz="2000" dirty="0"/>
          </a:p>
          <a:p>
            <a:pPr algn="ctr" indent="0" marL="0">
              <a:buNone/>
            </a:pPr>
            <a:r>
              <a:rPr lang="en-US" sz="2000" b="1" dirty="0">
                <a:solidFill>
                  <a:srgbClr val="FFFFFF"/>
                </a:solidFill>
              </a:rPr>
              <a:t>Throughput</a:t>
            </a:r>
            <a:endParaRPr lang="en-US" sz="2000" dirty="0"/>
          </a:p>
        </p:txBody>
      </p:sp>
      <p:sp>
        <p:nvSpPr>
          <p:cNvPr id="14" name="Text 12"/>
          <p:cNvSpPr/>
          <p:nvPr/>
        </p:nvSpPr>
        <p:spPr>
          <a:xfrm>
            <a:off x="457200" y="3291840"/>
            <a:ext cx="8229600" cy="1188720"/>
          </a:xfrm>
          <a:prstGeom prst="rect">
            <a:avLst/>
          </a:prstGeom>
          <a:noFill/>
          <a:ln/>
        </p:spPr>
        <p:txBody>
          <a:bodyPr wrap="square" rtlCol="0" anchor="t"/>
          <a:lstStyle/>
          <a:p>
            <a:pPr algn="l" indent="0" marL="0">
              <a:buNone/>
            </a:pPr>
            <a:r>
              <a:rPr lang="en-US" sz="1600" b="1" dirty="0">
                <a:solidFill>
                  <a:srgbClr val="1F4788"/>
                </a:solidFill>
              </a:rPr>
              <a:t>Additional Performance Benefits:</a:t>
            </a:r>
            <a:endParaRPr lang="en-US" sz="1600" dirty="0"/>
          </a:p>
          <a:p>
            <a:pPr algn="l" marL="342900" indent="-342900">
              <a:buSzPct val="100000"/>
              <a:buChar char="•"/>
            </a:pPr>
            <a:r>
              <a:rPr lang="en-US" sz="1300" dirty="0">
                <a:solidFill>
                  <a:srgbClr val="333333"/>
                </a:solidFill>
              </a:rPr>
              <a:t>• Superior Power-Delay Product (PDP) compared to Booth and base BPR multipliers</a:t>
            </a:r>
            <a:endParaRPr lang="en-US" sz="1600" dirty="0"/>
          </a:p>
          <a:p>
            <a:pPr algn="l" marL="342900" indent="-342900">
              <a:buSzPct val="100000"/>
              <a:buChar char="•"/>
            </a:pPr>
            <a:r>
              <a:rPr lang="en-US" sz="1300" dirty="0">
                <a:solidFill>
                  <a:srgbClr val="333333"/>
                </a:solidFill>
              </a:rPr>
              <a:t>• Higher operating frequency due to pipelined architecture</a:t>
            </a:r>
            <a:endParaRPr lang="en-US" sz="1600" dirty="0"/>
          </a:p>
          <a:p>
            <a:pPr algn="l" marL="342900" indent="-342900">
              <a:buSzPct val="100000"/>
              <a:buChar char="•"/>
            </a:pPr>
            <a:r>
              <a:rPr lang="en-US" sz="1300" dirty="0">
                <a:solidFill>
                  <a:srgbClr val="333333"/>
                </a:solidFill>
              </a:rPr>
              <a:t>• Reduced critical path delay through compressor-based reduction</a:t>
            </a:r>
            <a:endParaRPr lang="en-US" sz="1600" dirty="0"/>
          </a:p>
          <a:p>
            <a:pPr algn="l" marL="342900" indent="-342900">
              <a:buSzPct val="100000"/>
              <a:buChar char="•"/>
            </a:pPr>
            <a:r>
              <a:rPr lang="en-US" sz="1300" dirty="0">
                <a:solidFill>
                  <a:srgbClr val="333333"/>
                </a:solidFill>
              </a:rPr>
              <a:t>• Improved energy efficiency for CNN accelerator workloads</a:t>
            </a:r>
            <a:endParaRPr lang="en-US" sz="1600" dirty="0"/>
          </a:p>
          <a:p>
            <a:pPr algn="l" marL="342900" indent="-342900">
              <a:buSzPct val="100000"/>
              <a:buChar char="•"/>
            </a:pPr>
            <a:r>
              <a:rPr lang="en-US" sz="1300" dirty="0">
                <a:solidFill>
                  <a:srgbClr val="333333"/>
                </a:solidFill>
              </a:rPr>
              <a:t>• Robust performance across PVT variations</a:t>
            </a:r>
            <a:endParaRPr lang="en-US" sz="1600" dirty="0"/>
          </a:p>
          <a:p>
            <a:pPr algn="l" marL="342900" indent="-342900">
              <a:buSzPct val="100000"/>
              <a:buChar char="•"/>
            </a:pPr>
            <a:r>
              <a:rPr lang="en-US" sz="1300" dirty="0">
                <a:solidFill>
                  <a:srgbClr val="333333"/>
                </a:solidFill>
              </a:rPr>
              <a:t>• Scalable architecture for different precision requirements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3200" b="1" dirty="0">
                <a:solidFill>
                  <a:srgbClr val="1E3A5F"/>
                </a:solidFill>
              </a:rPr>
              <a:t>Publication Strategy</a:t>
            </a:r>
            <a:endParaRPr lang="en-US" sz="3200" dirty="0"/>
          </a:p>
        </p:txBody>
      </p:sp>
      <p:sp>
        <p:nvSpPr>
          <p:cNvPr id="6" name="Shape 4"/>
          <p:cNvSpPr/>
          <p:nvPr/>
        </p:nvSpPr>
        <p:spPr>
          <a:xfrm>
            <a:off x="457200" y="1097280"/>
            <a:ext cx="3931920" cy="1645920"/>
          </a:xfrm>
          <a:prstGeom prst="rect">
            <a:avLst/>
          </a:prstGeom>
          <a:solidFill>
            <a:srgbClr val="FFFFFF"/>
          </a:solidFill>
          <a:ln w="25400">
            <a:solidFill>
              <a:srgbClr val="1F4788"/>
            </a:solidFill>
            <a:prstDash val="solid"/>
          </a:ln>
        </p:spPr>
      </p:sp>
      <p:sp>
        <p:nvSpPr>
          <p:cNvPr id="7" name="Text 5"/>
          <p:cNvSpPr/>
          <p:nvPr/>
        </p:nvSpPr>
        <p:spPr>
          <a:xfrm>
            <a:off x="548640" y="1188720"/>
            <a:ext cx="3749040" cy="1463040"/>
          </a:xfrm>
          <a:prstGeom prst="rect">
            <a:avLst/>
          </a:prstGeom>
          <a:noFill/>
          <a:ln/>
        </p:spPr>
        <p:txBody>
          <a:bodyPr wrap="square" rtlCol="0" anchor="ctr"/>
          <a:lstStyle/>
          <a:p>
            <a:pPr algn="l" indent="0" marL="0">
              <a:buNone/>
            </a:pPr>
            <a:r>
              <a:rPr lang="en-US" sz="1500" b="1" dirty="0">
                <a:solidFill>
                  <a:srgbClr val="1F4788"/>
                </a:solidFill>
              </a:rPr>
              <a:t>Target Journals</a:t>
            </a:r>
            <a:endParaRPr lang="en-US" sz="1300" dirty="0"/>
          </a:p>
          <a:p>
            <a:pPr algn="l" marL="342900" indent="-342900">
              <a:buSzPct val="100000"/>
              <a:buChar char="•"/>
            </a:pPr>
            <a:r>
              <a:rPr lang="en-US" sz="1200" dirty="0">
                <a:solidFill>
                  <a:srgbClr val="333333"/>
                </a:solidFill>
              </a:rPr>
              <a:t>• IEEE Transactions on VLSI Systems</a:t>
            </a:r>
            <a:endParaRPr lang="en-US" sz="1300" dirty="0"/>
          </a:p>
          <a:p>
            <a:pPr algn="l" marL="342900" indent="-342900">
              <a:buSzPct val="100000"/>
              <a:buChar char="•"/>
            </a:pPr>
            <a:r>
              <a:rPr lang="en-US" sz="1200" dirty="0">
                <a:solidFill>
                  <a:srgbClr val="333333"/>
                </a:solidFill>
              </a:rPr>
              <a:t>• IEEE Transactions on Circuits and Systems</a:t>
            </a:r>
            <a:endParaRPr lang="en-US" sz="1300" dirty="0"/>
          </a:p>
          <a:p>
            <a:pPr algn="l" marL="342900" indent="-342900">
              <a:buSzPct val="100000"/>
              <a:buChar char="•"/>
            </a:pPr>
            <a:r>
              <a:rPr lang="en-US" sz="1200" dirty="0">
                <a:solidFill>
                  <a:srgbClr val="333333"/>
                </a:solidFill>
              </a:rPr>
              <a:t>• ACM Transactions on Design Automation</a:t>
            </a:r>
            <a:endParaRPr lang="en-US" sz="1300" dirty="0"/>
          </a:p>
          <a:p>
            <a:pPr algn="l" marL="342900" indent="-342900">
              <a:buSzPct val="100000"/>
              <a:buChar char="•"/>
            </a:pPr>
            <a:r>
              <a:rPr lang="en-US" sz="1200" dirty="0">
                <a:solidFill>
                  <a:srgbClr val="333333"/>
                </a:solidFill>
              </a:rPr>
              <a:t>• Microelectronics Journal (Elsevier)</a:t>
            </a:r>
            <a:endParaRPr lang="en-US" sz="1300" dirty="0"/>
          </a:p>
          <a:p>
            <a:pPr algn="l" marL="342900" indent="-342900">
              <a:buSzPct val="100000"/>
              <a:buChar char="•"/>
            </a:pPr>
            <a:r>
              <a:rPr lang="en-US" sz="1200" dirty="0">
                <a:solidFill>
                  <a:srgbClr val="333333"/>
                </a:solidFill>
              </a:rPr>
              <a:t>• Integration, the VLSI Journal</a:t>
            </a:r>
            <a:endParaRPr lang="en-US" sz="1300" dirty="0"/>
          </a:p>
        </p:txBody>
      </p:sp>
      <p:sp>
        <p:nvSpPr>
          <p:cNvPr id="8" name="Shape 6"/>
          <p:cNvSpPr/>
          <p:nvPr/>
        </p:nvSpPr>
        <p:spPr>
          <a:xfrm>
            <a:off x="4754880" y="1097280"/>
            <a:ext cx="3931920" cy="1645920"/>
          </a:xfrm>
          <a:prstGeom prst="rect">
            <a:avLst/>
          </a:prstGeom>
          <a:solidFill>
            <a:srgbClr val="FFFFFF"/>
          </a:solidFill>
          <a:ln w="25400">
            <a:solidFill>
              <a:srgbClr val="1F4788"/>
            </a:solidFill>
            <a:prstDash val="solid"/>
          </a:ln>
        </p:spPr>
      </p:sp>
      <p:sp>
        <p:nvSpPr>
          <p:cNvPr id="9" name="Text 7"/>
          <p:cNvSpPr/>
          <p:nvPr/>
        </p:nvSpPr>
        <p:spPr>
          <a:xfrm>
            <a:off x="4846320" y="1188720"/>
            <a:ext cx="3749040" cy="1463040"/>
          </a:xfrm>
          <a:prstGeom prst="rect">
            <a:avLst/>
          </a:prstGeom>
          <a:noFill/>
          <a:ln/>
        </p:spPr>
        <p:txBody>
          <a:bodyPr wrap="square" rtlCol="0" anchor="ctr"/>
          <a:lstStyle/>
          <a:p>
            <a:pPr algn="l" indent="0" marL="0">
              <a:buNone/>
            </a:pPr>
            <a:r>
              <a:rPr lang="en-US" sz="1500" b="1" dirty="0">
                <a:solidFill>
                  <a:srgbClr val="1F4788"/>
                </a:solidFill>
              </a:rPr>
              <a:t>Target Conferences</a:t>
            </a:r>
            <a:endParaRPr lang="en-US" sz="1300" dirty="0"/>
          </a:p>
          <a:p>
            <a:pPr algn="l" marL="342900" indent="-342900">
              <a:buSzPct val="100000"/>
              <a:buChar char="•"/>
            </a:pPr>
            <a:r>
              <a:rPr lang="en-US" sz="1100" dirty="0">
                <a:solidFill>
                  <a:srgbClr val="333333"/>
                </a:solidFill>
              </a:rPr>
              <a:t>• IEEE International Symposium on Circuits and Systems (ISCAS)</a:t>
            </a:r>
            <a:endParaRPr lang="en-US" sz="1300" dirty="0"/>
          </a:p>
          <a:p>
            <a:pPr algn="l" marL="342900" indent="-342900">
              <a:buSzPct val="100000"/>
              <a:buChar char="•"/>
            </a:pPr>
            <a:r>
              <a:rPr lang="en-US" sz="1200" dirty="0">
                <a:solidFill>
                  <a:srgbClr val="333333"/>
                </a:solidFill>
              </a:rPr>
              <a:t>• Design Automation Conference (DAC)</a:t>
            </a:r>
            <a:endParaRPr lang="en-US" sz="1300" dirty="0"/>
          </a:p>
          <a:p>
            <a:pPr algn="l" marL="342900" indent="-342900">
              <a:buSzPct val="100000"/>
              <a:buChar char="•"/>
            </a:pPr>
            <a:r>
              <a:rPr lang="en-US" sz="1200" dirty="0">
                <a:solidFill>
                  <a:srgbClr val="333333"/>
                </a:solidFill>
              </a:rPr>
              <a:t>• International Conference on VLSI Design</a:t>
            </a:r>
            <a:endParaRPr lang="en-US" sz="1300" dirty="0"/>
          </a:p>
          <a:p>
            <a:pPr algn="l" marL="342900" indent="-342900">
              <a:buSzPct val="100000"/>
              <a:buChar char="•"/>
            </a:pPr>
            <a:r>
              <a:rPr lang="en-US" sz="1100" dirty="0">
                <a:solidFill>
                  <a:srgbClr val="333333"/>
                </a:solidFill>
              </a:rPr>
              <a:t>• Asia and South Pacific Design Automation Conference (ASP-DAC)</a:t>
            </a:r>
            <a:endParaRPr lang="en-US" sz="1300" dirty="0"/>
          </a:p>
        </p:txBody>
      </p:sp>
      <p:sp>
        <p:nvSpPr>
          <p:cNvPr id="10" name="Shape 8"/>
          <p:cNvSpPr/>
          <p:nvPr/>
        </p:nvSpPr>
        <p:spPr>
          <a:xfrm>
            <a:off x="457200" y="2926080"/>
            <a:ext cx="8229600" cy="1554480"/>
          </a:xfrm>
          <a:prstGeom prst="rect">
            <a:avLst/>
          </a:prstGeom>
          <a:solidFill>
            <a:srgbClr val="FFFFFF"/>
          </a:solidFill>
          <a:ln w="25400">
            <a:solidFill>
              <a:srgbClr val="1F4788"/>
            </a:solidFill>
            <a:prstDash val="solid"/>
          </a:ln>
        </p:spPr>
      </p:sp>
      <p:sp>
        <p:nvSpPr>
          <p:cNvPr id="11" name="Text 9"/>
          <p:cNvSpPr/>
          <p:nvPr/>
        </p:nvSpPr>
        <p:spPr>
          <a:xfrm>
            <a:off x="548640" y="3017520"/>
            <a:ext cx="8046720" cy="1371600"/>
          </a:xfrm>
          <a:prstGeom prst="rect">
            <a:avLst/>
          </a:prstGeom>
          <a:noFill/>
          <a:ln/>
        </p:spPr>
        <p:txBody>
          <a:bodyPr wrap="square" rtlCol="0" anchor="ctr"/>
          <a:lstStyle/>
          <a:p>
            <a:pPr algn="l" indent="0" marL="0">
              <a:buNone/>
            </a:pPr>
            <a:r>
              <a:rPr lang="en-US" sz="1500" b="1" dirty="0">
                <a:solidFill>
                  <a:srgbClr val="1F4788"/>
                </a:solidFill>
              </a:rPr>
              <a:t>Paper Structure</a:t>
            </a:r>
            <a:endParaRPr lang="en-US" sz="1300" dirty="0"/>
          </a:p>
          <a:p>
            <a:pPr algn="l" marL="342900" indent="-342900">
              <a:buSzPct val="100000"/>
              <a:buChar char="•"/>
            </a:pPr>
            <a:r>
              <a:rPr lang="en-US" sz="1200" dirty="0">
                <a:solidFill>
                  <a:srgbClr val="333333"/>
                </a:solidFill>
              </a:rPr>
              <a:t>1. Abstract &amp; Introduction - Problem motivation and research objectives</a:t>
            </a:r>
            <a:endParaRPr lang="en-US" sz="1300" dirty="0"/>
          </a:p>
          <a:p>
            <a:pPr algn="l" marL="342900" indent="-342900">
              <a:buSzPct val="100000"/>
              <a:buChar char="•"/>
            </a:pPr>
            <a:r>
              <a:rPr lang="en-US" sz="1200" dirty="0">
                <a:solidFill>
                  <a:srgbClr val="333333"/>
                </a:solidFill>
              </a:rPr>
              <a:t>2. Related Work - Comprehensive review of Booth, MBE, and BPR multipliers</a:t>
            </a:r>
            <a:endParaRPr lang="en-US" sz="1300" dirty="0"/>
          </a:p>
          <a:p>
            <a:pPr algn="l" marL="342900" indent="-342900">
              <a:buSzPct val="100000"/>
              <a:buChar char="•"/>
            </a:pPr>
            <a:r>
              <a:rPr lang="en-US" sz="1200" dirty="0">
                <a:solidFill>
                  <a:srgbClr val="333333"/>
                </a:solidFill>
              </a:rPr>
              <a:t>3. Proposed Architecture - Detailed description of enhanced BPR with pipelining and compressors</a:t>
            </a:r>
            <a:endParaRPr lang="en-US" sz="1300" dirty="0"/>
          </a:p>
          <a:p>
            <a:pPr algn="l" marL="342900" indent="-342900">
              <a:buSzPct val="100000"/>
              <a:buChar char="•"/>
            </a:pPr>
            <a:r>
              <a:rPr lang="en-US" sz="1200" dirty="0">
                <a:solidFill>
                  <a:srgbClr val="333333"/>
                </a:solidFill>
              </a:rPr>
              <a:t>4. Implementation &amp; Methodology - RTL design, FPGA/ASIC synthesis approach</a:t>
            </a:r>
            <a:endParaRPr lang="en-US" sz="1300" dirty="0"/>
          </a:p>
          <a:p>
            <a:pPr algn="l" marL="342900" indent="-342900">
              <a:buSzPct val="100000"/>
              <a:buChar char="•"/>
            </a:pPr>
            <a:r>
              <a:rPr lang="en-US" sz="1200" dirty="0">
                <a:solidFill>
                  <a:srgbClr val="333333"/>
                </a:solidFill>
              </a:rPr>
              <a:t>5. Results &amp; Analysis - Performance comparison, timing/power/area metrics, PVT analysis</a:t>
            </a:r>
            <a:endParaRPr lang="en-US" sz="1300" dirty="0"/>
          </a:p>
          <a:p>
            <a:pPr algn="l" marL="342900" indent="-342900">
              <a:buSzPct val="100000"/>
              <a:buChar char="•"/>
            </a:pPr>
            <a:r>
              <a:rPr lang="en-US" sz="1200" dirty="0">
                <a:solidFill>
                  <a:srgbClr val="333333"/>
                </a:solidFill>
              </a:rPr>
              <a:t>6. CNN Integration - FP16 MAC unit integration and AI accelerator performance</a:t>
            </a:r>
            <a:endParaRPr lang="en-US" sz="1300" dirty="0"/>
          </a:p>
          <a:p>
            <a:pPr algn="l" marL="342900" indent="-342900">
              <a:buSzPct val="100000"/>
              <a:buChar char="•"/>
            </a:pPr>
            <a:r>
              <a:rPr lang="en-US" sz="1200" dirty="0">
                <a:solidFill>
                  <a:srgbClr val="333333"/>
                </a:solidFill>
              </a:rPr>
              <a:t>7. Conclusion &amp; Future Work - Summary of contributions and research directions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3200" b="1" dirty="0">
                <a:solidFill>
                  <a:srgbClr val="1E3A5F"/>
                </a:solidFill>
              </a:rPr>
              <a:t>Conclusion</a:t>
            </a:r>
            <a:endParaRPr lang="en-US" sz="3200" dirty="0"/>
          </a:p>
        </p:txBody>
      </p:sp>
      <p:sp>
        <p:nvSpPr>
          <p:cNvPr id="6" name="Text 4"/>
          <p:cNvSpPr/>
          <p:nvPr/>
        </p:nvSpPr>
        <p:spPr>
          <a:xfrm>
            <a:off x="457200" y="1005840"/>
            <a:ext cx="8229600" cy="3566160"/>
          </a:xfrm>
          <a:prstGeom prst="rect">
            <a:avLst/>
          </a:prstGeom>
          <a:noFill/>
          <a:ln/>
        </p:spPr>
        <p:txBody>
          <a:bodyPr wrap="square" rtlCol="0" anchor="t"/>
          <a:lstStyle/>
          <a:p>
            <a:pPr algn="l" indent="0" marL="0">
              <a:buNone/>
            </a:pPr>
            <a:r>
              <a:rPr lang="en-US" sz="1400" dirty="0">
                <a:solidFill>
                  <a:srgbClr val="333333"/>
                </a:solidFill>
              </a:rPr>
              <a:t>This M.Tech project presents a comprehensive enhanced floating-point multiplier architecture based on the Radix-8 Bit Pair Recoding algorithm, specifically optimized for energy-efficient neural network accelerators. By introducing multi-stage pipelining and advanced compressor-based partial product reduction techniques, the proposed design achieves significant improvements over conventional Booth and base BPR multipliers across all critical performance metrics.</a:t>
            </a:r>
            <a:endParaRPr lang="en-US" sz="1400" dirty="0"/>
          </a:p>
          <a:p>
            <a:pPr algn="l" indent="0" marL="0">
              <a:buNone/>
            </a:pPr>
            <a:endParaRPr lang="en-US" sz="1400" dirty="0"/>
          </a:p>
          <a:p>
            <a:pPr algn="l" indent="0" marL="0">
              <a:buNone/>
            </a:pPr>
            <a:r>
              <a:rPr lang="en-US" sz="1400" dirty="0">
                <a:solidFill>
                  <a:srgbClr val="333333"/>
                </a:solidFill>
              </a:rPr>
              <a:t>The enhanced architecture demonstrates 15-25% lower propagation delay, 20-30% reduced power consumption, optimized hardware area utilization, and substantially improved throughput through pipelined execution. The seamless integration with FP16 MAC units enables superior performance in CNN convolution operations, making it ideal for AI accelerator applications in edge computing, embedded systems, and FPGA-based neural network hardware.</a:t>
            </a:r>
            <a:endParaRPr lang="en-US" sz="1400" dirty="0"/>
          </a:p>
          <a:p>
            <a:pPr algn="l" indent="0" marL="0">
              <a:buNone/>
            </a:pPr>
            <a:endParaRPr lang="en-US" sz="1400" dirty="0"/>
          </a:p>
          <a:p>
            <a:pPr algn="l" indent="0" marL="0">
              <a:buNone/>
            </a:pPr>
            <a:r>
              <a:rPr lang="en-US" sz="1400" dirty="0">
                <a:solidFill>
                  <a:srgbClr val="333333"/>
                </a:solidFill>
              </a:rPr>
              <a:t>Implemented using Verilog HDL and verified through comprehensive FPGA synthesis and ASIC implementation with TSMC 65nm technology, this research represents a significant contribution to the field of energy-efficient hardware accelerators for artificial intelligence. The work is suitable for publication in top-tier IEEE journals and conferences, with strong potential for real-world deployment in next-generation AI processors.</a:t>
            </a:r>
            <a:endParaRPr lang="en-US" sz="1400" dirty="0"/>
          </a:p>
          <a:p>
            <a:pPr algn="l" indent="0" marL="0">
              <a:buNone/>
            </a:pPr>
            <a:endParaRPr lang="en-US" sz="1400" dirty="0"/>
          </a:p>
          <a:p>
            <a:pPr algn="l" indent="0" marL="0">
              <a:buNone/>
            </a:pPr>
            <a:r>
              <a:rPr lang="en-US" sz="1400" dirty="0">
                <a:solidFill>
                  <a:srgbClr val="333333"/>
                </a:solidFill>
              </a:rPr>
              <a:t>The project successfully combines theoretical innovation with practical implementation, demonstrating frontend VLSI design expertise across RTL development, functional verification, logic synthesis, and hardware optimization - all essential skills for modern VLSI engineers working on AI accelerator architectures.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Text 3"/>
          <p:cNvSpPr/>
          <p:nvPr/>
        </p:nvSpPr>
        <p:spPr>
          <a:xfrm>
            <a:off x="457200" y="365760"/>
            <a:ext cx="8229600" cy="457200"/>
          </a:xfrm>
          <a:prstGeom prst="rect">
            <a:avLst/>
          </a:prstGeom>
          <a:noFill/>
          <a:ln/>
        </p:spPr>
        <p:txBody>
          <a:bodyPr wrap="square" rtlCol="0" anchor="ctr"/>
          <a:lstStyle/>
          <a:p>
            <a:pPr algn="l" indent="0" marL="0">
              <a:buNone/>
            </a:pPr>
            <a:r>
              <a:rPr lang="en-US" sz="2800" b="1" dirty="0">
                <a:solidFill>
                  <a:srgbClr val="1E3A5F"/>
                </a:solidFill>
              </a:rPr>
              <a:t>Future Work &amp; Research Extensions</a:t>
            </a:r>
            <a:endParaRPr lang="en-US" sz="2800" dirty="0"/>
          </a:p>
        </p:txBody>
      </p:sp>
      <p:sp>
        <p:nvSpPr>
          <p:cNvPr id="6" name="Text 4"/>
          <p:cNvSpPr/>
          <p:nvPr/>
        </p:nvSpPr>
        <p:spPr>
          <a:xfrm>
            <a:off x="457200" y="1005840"/>
            <a:ext cx="8229600" cy="3566160"/>
          </a:xfrm>
          <a:prstGeom prst="rect">
            <a:avLst/>
          </a:prstGeom>
          <a:noFill/>
          <a:ln/>
        </p:spPr>
        <p:txBody>
          <a:bodyPr wrap="square" rtlCol="0" anchor="t"/>
          <a:lstStyle/>
          <a:p>
            <a:pPr algn="l" indent="0" marL="0">
              <a:buNone/>
            </a:pPr>
            <a:r>
              <a:rPr lang="en-US" sz="1600" b="1" dirty="0">
                <a:solidFill>
                  <a:srgbClr val="1F4788"/>
                </a:solidFill>
              </a:rPr>
              <a:t>Short-term Extensions:</a:t>
            </a:r>
            <a:endParaRPr lang="en-US" sz="1600" dirty="0"/>
          </a:p>
          <a:p>
            <a:pPr algn="l" marL="342900" indent="-342900">
              <a:buSzPct val="100000"/>
              <a:buChar char="•"/>
            </a:pPr>
            <a:r>
              <a:rPr lang="en-US" sz="1300" dirty="0">
                <a:solidFill>
                  <a:srgbClr val="333333"/>
                </a:solidFill>
              </a:rPr>
              <a:t>• Extend to higher precision formats (FP32, FP64)</a:t>
            </a:r>
            <a:endParaRPr lang="en-US" sz="1600" dirty="0"/>
          </a:p>
          <a:p>
            <a:pPr algn="l" marL="342900" indent="-342900">
              <a:buSzPct val="100000"/>
              <a:buChar char="•"/>
            </a:pPr>
            <a:r>
              <a:rPr lang="en-US" sz="1300" dirty="0">
                <a:solidFill>
                  <a:srgbClr val="333333"/>
                </a:solidFill>
              </a:rPr>
              <a:t>• Implement adaptive pipelining based on workload characteristics</a:t>
            </a:r>
            <a:endParaRPr lang="en-US" sz="1600" dirty="0"/>
          </a:p>
          <a:p>
            <a:pPr algn="l" marL="342900" indent="-342900">
              <a:buSzPct val="100000"/>
              <a:buChar char="•"/>
            </a:pPr>
            <a:r>
              <a:rPr lang="en-US" sz="1300" dirty="0">
                <a:solidFill>
                  <a:srgbClr val="333333"/>
                </a:solidFill>
              </a:rPr>
              <a:t>• Optimize for specific CNN architectures (ResNet, VGG, MobileNet)</a:t>
            </a:r>
            <a:endParaRPr lang="en-US" sz="1600" dirty="0"/>
          </a:p>
          <a:p>
            <a:pPr algn="l" marL="342900" indent="-342900">
              <a:buSzPct val="100000"/>
              <a:buChar char="•"/>
            </a:pPr>
            <a:r>
              <a:rPr lang="en-US" sz="1300" dirty="0">
                <a:solidFill>
                  <a:srgbClr val="333333"/>
                </a:solidFill>
              </a:rPr>
              <a:t>• Add support for mixed-precision training operations</a:t>
            </a:r>
            <a:endParaRPr lang="en-US" sz="1600" dirty="0"/>
          </a:p>
          <a:p>
            <a:pPr algn="l" indent="0" marL="0">
              <a:buNone/>
            </a:pPr>
            <a:r>
              <a:rPr lang="en-US" sz="1600" b="1" dirty="0">
                <a:solidFill>
                  <a:srgbClr val="1F4788"/>
                </a:solidFill>
              </a:rPr>
              <a:t>Long-term Research Directions:</a:t>
            </a:r>
            <a:endParaRPr lang="en-US" sz="1600" dirty="0"/>
          </a:p>
          <a:p>
            <a:pPr algn="l" marL="342900" indent="-342900">
              <a:buSzPct val="100000"/>
              <a:buChar char="•"/>
            </a:pPr>
            <a:r>
              <a:rPr lang="en-US" sz="1300" dirty="0">
                <a:solidFill>
                  <a:srgbClr val="333333"/>
                </a:solidFill>
              </a:rPr>
              <a:t>• Integration with approximate computing techniques for further power reduction</a:t>
            </a:r>
            <a:endParaRPr lang="en-US" sz="1600" dirty="0"/>
          </a:p>
          <a:p>
            <a:pPr algn="l" marL="342900" indent="-342900">
              <a:buSzPct val="100000"/>
              <a:buChar char="•"/>
            </a:pPr>
            <a:r>
              <a:rPr lang="en-US" sz="1300" dirty="0">
                <a:solidFill>
                  <a:srgbClr val="333333"/>
                </a:solidFill>
              </a:rPr>
              <a:t>• Development of reconfigurable architecture supporting multiple radix encodings</a:t>
            </a:r>
            <a:endParaRPr lang="en-US" sz="1600" dirty="0"/>
          </a:p>
          <a:p>
            <a:pPr algn="l" marL="342900" indent="-342900">
              <a:buSzPct val="100000"/>
              <a:buChar char="•"/>
            </a:pPr>
            <a:r>
              <a:rPr lang="en-US" sz="1300" dirty="0">
                <a:solidFill>
                  <a:srgbClr val="333333"/>
                </a:solidFill>
              </a:rPr>
              <a:t>• Machine learning-guided optimization of pipeline stage allocation</a:t>
            </a:r>
            <a:endParaRPr lang="en-US" sz="1600" dirty="0"/>
          </a:p>
          <a:p>
            <a:pPr algn="l" marL="342900" indent="-342900">
              <a:buSzPct val="100000"/>
              <a:buChar char="•"/>
            </a:pPr>
            <a:r>
              <a:rPr lang="en-US" sz="1300" dirty="0">
                <a:solidFill>
                  <a:srgbClr val="333333"/>
                </a:solidFill>
              </a:rPr>
              <a:t>• Extension to specialized operations (matrix multiplication, convolution kernels)</a:t>
            </a:r>
            <a:endParaRPr lang="en-US" sz="1600" dirty="0"/>
          </a:p>
          <a:p>
            <a:pPr algn="l" marL="342900" indent="-342900">
              <a:buSzPct val="100000"/>
              <a:buChar char="•"/>
            </a:pPr>
            <a:r>
              <a:rPr lang="en-US" sz="1300" dirty="0">
                <a:solidFill>
                  <a:srgbClr val="333333"/>
                </a:solidFill>
              </a:rPr>
              <a:t>• Hardware-software co-design for neural architecture search (NAS) acceleration</a:t>
            </a:r>
            <a:endParaRPr lang="en-US" sz="1600" dirty="0"/>
          </a:p>
          <a:p>
            <a:pPr algn="l" marL="342900" indent="-342900">
              <a:buSzPct val="100000"/>
              <a:buChar char="•"/>
            </a:pPr>
            <a:r>
              <a:rPr lang="en-US" sz="1300" dirty="0">
                <a:solidFill>
                  <a:srgbClr val="333333"/>
                </a:solidFill>
              </a:rPr>
              <a:t>• Near-threshold voltage operation for ultra-low-power applications</a:t>
            </a:r>
            <a:endParaRPr lang="en-US" sz="1600" dirty="0"/>
          </a:p>
          <a:p>
            <a:pPr algn="l" marL="342900" indent="-342900">
              <a:buSzPct val="100000"/>
              <a:buChar char="•"/>
            </a:pPr>
            <a:r>
              <a:rPr lang="en-US" sz="1300" dirty="0">
                <a:solidFill>
                  <a:srgbClr val="333333"/>
                </a:solidFill>
              </a:rPr>
              <a:t>• 3D IC implementation for enhanced performance and energy efficiency</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365760" cy="365760"/>
          </a:xfrm>
          <a:prstGeom prst="rtTriangle">
            <a:avLst/>
          </a:prstGeom>
          <a:solidFill>
            <a:srgbClr val="C1272D"/>
          </a:solidFill>
          <a:ln/>
        </p:spPr>
      </p:sp>
      <p:sp>
        <p:nvSpPr>
          <p:cNvPr id="3" name="Shape 1"/>
          <p:cNvSpPr/>
          <p:nvPr/>
        </p:nvSpPr>
        <p:spPr>
          <a:xfrm rot="10800000">
            <a:off x="8778240" y="4777740"/>
            <a:ext cx="365760" cy="365760"/>
          </a:xfrm>
          <a:prstGeom prst="rtTriangle">
            <a:avLst/>
          </a:prstGeom>
          <a:solidFill>
            <a:srgbClr val="1F4788"/>
          </a:solidFill>
          <a:ln/>
        </p:spPr>
      </p:sp>
      <p:sp>
        <p:nvSpPr>
          <p:cNvPr id="4" name="Text 2"/>
          <p:cNvSpPr/>
          <p:nvPr/>
        </p:nvSpPr>
        <p:spPr>
          <a:xfrm>
            <a:off x="8046720" y="137160"/>
            <a:ext cx="1005840" cy="365760"/>
          </a:xfrm>
          <a:prstGeom prst="rect">
            <a:avLst/>
          </a:prstGeom>
          <a:noFill/>
          <a:ln/>
        </p:spPr>
        <p:txBody>
          <a:bodyPr wrap="square" rtlCol="0" anchor="t"/>
          <a:lstStyle/>
          <a:p>
            <a:pPr algn="ctr" indent="0" marL="0">
              <a:buNone/>
            </a:pPr>
            <a:r>
              <a:rPr lang="en-US" sz="1400" b="1" dirty="0">
                <a:solidFill>
                  <a:srgbClr val="C1272D"/>
                </a:solidFill>
              </a:rPr>
              <a:t>ANURAG</a:t>
            </a:r>
            <a:pPr algn="ctr" indent="0" marL="0">
              <a:buNone/>
            </a:pPr>
            <a:endParaRPr lang="en-US" sz="1400" dirty="0"/>
          </a:p>
          <a:p>
            <a:pPr algn="ctr" indent="0" marL="0">
              <a:buNone/>
            </a:pPr>
            <a:r>
              <a:rPr lang="en-US" sz="800" dirty="0">
                <a:solidFill>
                  <a:srgbClr val="333333"/>
                </a:solidFill>
              </a:rPr>
              <a:t>UNIVERSITY</a:t>
            </a:r>
            <a:endParaRPr lang="en-US" sz="1400" dirty="0"/>
          </a:p>
        </p:txBody>
      </p:sp>
      <p:sp>
        <p:nvSpPr>
          <p:cNvPr id="5" name="Shape 3"/>
          <p:cNvSpPr/>
          <p:nvPr/>
        </p:nvSpPr>
        <p:spPr>
          <a:xfrm>
            <a:off x="2286000" y="1645920"/>
            <a:ext cx="4572000" cy="1645920"/>
          </a:xfrm>
          <a:prstGeom prst="rect">
            <a:avLst/>
          </a:prstGeom>
          <a:solidFill>
            <a:srgbClr val="1E3A5F"/>
          </a:solidFill>
          <a:ln/>
        </p:spPr>
      </p:sp>
      <p:sp>
        <p:nvSpPr>
          <p:cNvPr id="6" name="Text 4"/>
          <p:cNvSpPr/>
          <p:nvPr/>
        </p:nvSpPr>
        <p:spPr>
          <a:xfrm>
            <a:off x="2286000" y="1828800"/>
            <a:ext cx="4572000" cy="914400"/>
          </a:xfrm>
          <a:prstGeom prst="rect">
            <a:avLst/>
          </a:prstGeom>
          <a:noFill/>
          <a:ln/>
        </p:spPr>
        <p:txBody>
          <a:bodyPr wrap="square" rtlCol="0" anchor="ctr"/>
          <a:lstStyle/>
          <a:p>
            <a:pPr algn="ctr" indent="0" marL="0">
              <a:buNone/>
            </a:pPr>
            <a:r>
              <a:rPr lang="en-US" sz="4400" b="1" dirty="0">
                <a:solidFill>
                  <a:srgbClr val="FFFFFF"/>
                </a:solidFill>
              </a:rPr>
              <a:t>THANK YOU</a:t>
            </a:r>
            <a:endParaRPr lang="en-US" sz="4400" dirty="0"/>
          </a:p>
        </p:txBody>
      </p:sp>
      <p:sp>
        <p:nvSpPr>
          <p:cNvPr id="7" name="Text 5"/>
          <p:cNvSpPr/>
          <p:nvPr/>
        </p:nvSpPr>
        <p:spPr>
          <a:xfrm>
            <a:off x="2286000" y="3566160"/>
            <a:ext cx="4572000" cy="731520"/>
          </a:xfrm>
          <a:prstGeom prst="rect">
            <a:avLst/>
          </a:prstGeom>
          <a:noFill/>
          <a:ln/>
        </p:spPr>
        <p:txBody>
          <a:bodyPr wrap="square" rtlCol="0" anchor="t"/>
          <a:lstStyle/>
          <a:p>
            <a:pPr algn="ctr" indent="0" marL="0">
              <a:buNone/>
            </a:pPr>
            <a:r>
              <a:rPr lang="en-US" sz="1600" b="1" dirty="0">
                <a:solidFill>
                  <a:srgbClr val="1E3A5F"/>
                </a:solidFill>
              </a:rPr>
              <a:t>G. RISHWANTH</a:t>
            </a:r>
            <a:endParaRPr lang="en-US" sz="1600" dirty="0"/>
          </a:p>
          <a:p>
            <a:pPr algn="ctr" indent="0" marL="0">
              <a:buNone/>
            </a:pPr>
            <a:r>
              <a:rPr lang="en-US" sz="1300" dirty="0">
                <a:solidFill>
                  <a:srgbClr val="1E3A5F"/>
                </a:solidFill>
              </a:rPr>
              <a:t>24EG202A12 | M.Tech (VLSI-SD)</a:t>
            </a:r>
            <a:endParaRPr lang="en-US" sz="1600" dirty="0"/>
          </a:p>
          <a:p>
            <a:pPr algn="ctr" indent="0" marL="0">
              <a:buNone/>
            </a:pPr>
            <a:r>
              <a:rPr lang="en-US" sz="1200" dirty="0">
                <a:solidFill>
                  <a:srgbClr val="1E3A5F"/>
                </a:solidFill>
              </a:rPr>
              <a:t>Department of ECE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Enhanced Radix-8 BPR Floating-Point Multiplier</dc:title>
  <dc:subject>PptxGenJS Presentation</dc:subject>
  <dc:creator>G.RISHWANTH</dc:creator>
  <cp:lastModifiedBy>G.RISHWANTH</cp:lastModifiedBy>
  <cp:revision>1</cp:revision>
  <dcterms:created xsi:type="dcterms:W3CDTF">2026-05-06T05:54:03Z</dcterms:created>
  <dcterms:modified xsi:type="dcterms:W3CDTF">2026-05-06T05:54:03Z</dcterms:modified>
</cp:coreProperties>
</file>